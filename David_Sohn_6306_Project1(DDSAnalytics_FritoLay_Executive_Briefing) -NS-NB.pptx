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tags/tag10.xml" ContentType="application/vnd.openxmlformats-officedocument.presentationml.tags+xml"/>
  <Override PartName="/ppt/notesSlides/notesSlide3.xml" ContentType="application/vnd.openxmlformats-officedocument.presentationml.notesSlide+xml"/>
  <Override PartName="/ppt/tags/tag11.xml" ContentType="application/vnd.openxmlformats-officedocument.presentationml.tags+xml"/>
  <Override PartName="/ppt/notesSlides/notesSlide4.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7" r:id="rId9"/>
    <p:sldId id="268" r:id="rId10"/>
    <p:sldId id="270" r:id="rId11"/>
    <p:sldId id="269" r:id="rId12"/>
    <p:sldId id="271" r:id="rId13"/>
    <p:sldId id="273" r:id="rId14"/>
    <p:sldId id="272" r:id="rId15"/>
    <p:sldId id="263" r:id="rId16"/>
    <p:sldId id="264" r:id="rId17"/>
    <p:sldId id="265" r:id="rId18"/>
    <p:sldId id="266" r:id="rId19"/>
    <p:sldId id="274" r:id="rId20"/>
    <p:sldId id="277" r:id="rId21"/>
    <p:sldId id="276" r:id="rId22"/>
    <p:sldId id="278" r:id="rId23"/>
    <p:sldId id="275"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0" d="100"/>
          <a:sy n="150" d="100"/>
        </p:scale>
        <p:origin x="57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4FF80C-A94C-4823-86D3-A5740CB0AC96}" type="datetimeFigureOut">
              <a:rPr lang="en-US" smtClean="0"/>
              <a:t>10/25/2026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B0DD13-7465-4C1E-AE2D-3E3A06ED2E9E}" type="slidenum">
              <a:rPr lang="en-US" smtClean="0"/>
              <a:t>‹#›</a:t>
            </a:fld>
            <a:endParaRPr lang="en-US"/>
          </a:p>
        </p:txBody>
      </p:sp>
    </p:spTree>
    <p:extLst>
      <p:ext uri="{BB962C8B-B14F-4D97-AF65-F5344CB8AC3E}">
        <p14:creationId xmlns:p14="http://schemas.microsoft.com/office/powerpoint/2010/main" val="1630772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coming to our presentation.  I’m proud to have completed the assessment to help with your company’s regrettable attrition and take proactive steps toward reduction for bottom line savings and maintained organizational efficiency.</a:t>
            </a:r>
          </a:p>
        </p:txBody>
      </p:sp>
      <p:sp>
        <p:nvSpPr>
          <p:cNvPr id="4" name="Slide Number Placeholder 3"/>
          <p:cNvSpPr>
            <a:spLocks noGrp="1"/>
          </p:cNvSpPr>
          <p:nvPr>
            <p:ph type="sldNum" sz="quarter" idx="5"/>
          </p:nvPr>
        </p:nvSpPr>
        <p:spPr/>
        <p:txBody>
          <a:bodyPr/>
          <a:lstStyle/>
          <a:p>
            <a:fld id="{D0B0DD13-7465-4C1E-AE2D-3E3A06ED2E9E}" type="slidenum">
              <a:rPr lang="en-US" smtClean="0"/>
              <a:t>1</a:t>
            </a:fld>
            <a:endParaRPr lang="en-US"/>
          </a:p>
        </p:txBody>
      </p:sp>
    </p:spTree>
    <p:extLst>
      <p:ext uri="{BB962C8B-B14F-4D97-AF65-F5344CB8AC3E}">
        <p14:creationId xmlns:p14="http://schemas.microsoft.com/office/powerpoint/2010/main" val="997429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B0DD13-7465-4C1E-AE2D-3E3A06ED2E9E}" type="slidenum">
              <a:rPr lang="en-US" smtClean="0"/>
              <a:t>17</a:t>
            </a:fld>
            <a:endParaRPr lang="en-US"/>
          </a:p>
        </p:txBody>
      </p:sp>
    </p:spTree>
    <p:extLst>
      <p:ext uri="{BB962C8B-B14F-4D97-AF65-F5344CB8AC3E}">
        <p14:creationId xmlns:p14="http://schemas.microsoft.com/office/powerpoint/2010/main" val="28325082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239B2-4C64-22C0-D5D8-12357B8AB6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8904F6-1C44-F88A-94C6-DA4FE12BE3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E7B84-DCBE-3384-CDA5-26593A564A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A22FBD-5A88-2CA5-CE53-AF552FC53627}"/>
              </a:ext>
            </a:extLst>
          </p:cNvPr>
          <p:cNvSpPr>
            <a:spLocks noGrp="1"/>
          </p:cNvSpPr>
          <p:nvPr>
            <p:ph type="sldNum" sz="quarter" idx="5"/>
          </p:nvPr>
        </p:nvSpPr>
        <p:spPr/>
        <p:txBody>
          <a:bodyPr/>
          <a:lstStyle/>
          <a:p>
            <a:fld id="{D0B0DD13-7465-4C1E-AE2D-3E3A06ED2E9E}" type="slidenum">
              <a:rPr lang="en-US" smtClean="0"/>
              <a:t>18</a:t>
            </a:fld>
            <a:endParaRPr lang="en-US"/>
          </a:p>
        </p:txBody>
      </p:sp>
    </p:spTree>
    <p:extLst>
      <p:ext uri="{BB962C8B-B14F-4D97-AF65-F5344CB8AC3E}">
        <p14:creationId xmlns:p14="http://schemas.microsoft.com/office/powerpoint/2010/main" val="2031574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046C9-9CC3-50E0-8A83-A6A62C5F31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611D07-B843-9099-A769-A3D0CCF9F6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5439F-E454-FCA2-6E86-116FDF2336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C8E4B9-D8F0-5D63-E28C-2C8ADABD403D}"/>
              </a:ext>
            </a:extLst>
          </p:cNvPr>
          <p:cNvSpPr>
            <a:spLocks noGrp="1"/>
          </p:cNvSpPr>
          <p:nvPr>
            <p:ph type="sldNum" sz="quarter" idx="5"/>
          </p:nvPr>
        </p:nvSpPr>
        <p:spPr/>
        <p:txBody>
          <a:bodyPr/>
          <a:lstStyle/>
          <a:p>
            <a:fld id="{D0B0DD13-7465-4C1E-AE2D-3E3A06ED2E9E}" type="slidenum">
              <a:rPr lang="en-US" smtClean="0"/>
              <a:t>19</a:t>
            </a:fld>
            <a:endParaRPr lang="en-US"/>
          </a:p>
        </p:txBody>
      </p:sp>
    </p:spTree>
    <p:extLst>
      <p:ext uri="{BB962C8B-B14F-4D97-AF65-F5344CB8AC3E}">
        <p14:creationId xmlns:p14="http://schemas.microsoft.com/office/powerpoint/2010/main" val="15504776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8A852-EF0C-E644-4E33-4C9B0AA193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8BAC15-A6DD-8AD7-7F7C-A895C5A333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19048C-7F28-A171-EDA8-BF88C518D5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698C43-44D7-00A2-158A-951595055FC8}"/>
              </a:ext>
            </a:extLst>
          </p:cNvPr>
          <p:cNvSpPr>
            <a:spLocks noGrp="1"/>
          </p:cNvSpPr>
          <p:nvPr>
            <p:ph type="sldNum" sz="quarter" idx="5"/>
          </p:nvPr>
        </p:nvSpPr>
        <p:spPr/>
        <p:txBody>
          <a:bodyPr/>
          <a:lstStyle/>
          <a:p>
            <a:fld id="{D0B0DD13-7465-4C1E-AE2D-3E3A06ED2E9E}" type="slidenum">
              <a:rPr lang="en-US" smtClean="0"/>
              <a:t>23</a:t>
            </a:fld>
            <a:endParaRPr lang="en-US"/>
          </a:p>
        </p:txBody>
      </p:sp>
    </p:spTree>
    <p:extLst>
      <p:ext uri="{BB962C8B-B14F-4D97-AF65-F5344CB8AC3E}">
        <p14:creationId xmlns:p14="http://schemas.microsoft.com/office/powerpoint/2010/main" val="2072410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7.xml"/><Relationship Id="rId1" Type="http://schemas.openxmlformats.org/officeDocument/2006/relationships/tags" Target="../tags/tag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7.xml"/><Relationship Id="rId1" Type="http://schemas.openxmlformats.org/officeDocument/2006/relationships/tags" Target="../tags/tag7.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7.xml"/><Relationship Id="rId1" Type="http://schemas.openxmlformats.org/officeDocument/2006/relationships/tags" Target="../tags/tag8.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9.xml"/><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10.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11.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7.xml"/><Relationship Id="rId1" Type="http://schemas.openxmlformats.org/officeDocument/2006/relationships/tags" Target="../tags/tag1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7.xml"/><Relationship Id="rId1" Type="http://schemas.openxmlformats.org/officeDocument/2006/relationships/tags" Target="../tags/tag1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tags" Target="../tags/tag14.xml"/><Relationship Id="rId5" Type="http://schemas.openxmlformats.org/officeDocument/2006/relationships/image" Target="../media/image25.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828800"/>
          </a:xfrm>
          <a:prstGeom prst="rect">
            <a:avLst/>
          </a:prstGeom>
          <a:noFill/>
        </p:spPr>
        <p:txBody>
          <a:bodyPr wrap="square">
            <a:spAutoFit/>
          </a:bodyPr>
          <a:lstStyle/>
          <a:p>
            <a:pPr algn="l">
              <a:defRPr sz="4000" b="1">
                <a:solidFill>
                  <a:srgbClr val="FFFFFF"/>
                </a:solidFill>
              </a:defRPr>
            </a:pPr>
            <a:r>
              <a:rPr dirty="0"/>
              <a:t>DDSAnalytics Talent Management Solutions</a:t>
            </a:r>
          </a:p>
          <a:p>
            <a:pPr algn="l">
              <a:defRPr sz="2200">
                <a:solidFill>
                  <a:srgbClr val="AAB9CD"/>
                </a:solidFill>
              </a:defRPr>
            </a:pPr>
            <a:r>
              <a:rPr dirty="0"/>
              <a:t>Executive Briefing: Data-Driven Attrition Mitigation Strategy for Frito-Lay</a:t>
            </a:r>
          </a:p>
        </p:txBody>
      </p:sp>
      <p:sp>
        <p:nvSpPr>
          <p:cNvPr id="4" name="TextBox 3"/>
          <p:cNvSpPr txBox="1"/>
          <p:nvPr/>
        </p:nvSpPr>
        <p:spPr>
          <a:xfrm>
            <a:off x="914400" y="5115967"/>
            <a:ext cx="3568734" cy="692497"/>
          </a:xfrm>
          <a:prstGeom prst="rect">
            <a:avLst/>
          </a:prstGeom>
          <a:noFill/>
        </p:spPr>
        <p:txBody>
          <a:bodyPr wrap="none">
            <a:spAutoFit/>
          </a:bodyPr>
          <a:lstStyle/>
          <a:p>
            <a:pPr>
              <a:defRPr sz="1300">
                <a:solidFill>
                  <a:srgbClr val="8C9BAF"/>
                </a:solidFill>
              </a:defRPr>
            </a:pPr>
            <a:r>
              <a:rPr dirty="0"/>
              <a:t>Presented by: DDSAnalytics Senior Analytics Team</a:t>
            </a:r>
            <a:endParaRPr lang="en-US" dirty="0"/>
          </a:p>
          <a:p>
            <a:pPr>
              <a:defRPr sz="1300">
                <a:solidFill>
                  <a:srgbClr val="8C9BAF"/>
                </a:solidFill>
              </a:defRPr>
            </a:pPr>
            <a:r>
              <a:rPr lang="en-US" dirty="0"/>
              <a:t>(Project Lead: David Sohn)</a:t>
            </a:r>
            <a:br>
              <a:rPr dirty="0"/>
            </a:br>
            <a:r>
              <a:rPr dirty="0"/>
              <a:t>Date: October 2026</a:t>
            </a:r>
          </a:p>
        </p:txBody>
      </p:sp>
    </p:spTree>
  </p:cSld>
  <p:clrMapOvr>
    <a:masterClrMapping/>
  </p:clrMapOvr>
  <mc:AlternateContent xmlns:mc="http://schemas.openxmlformats.org/markup-compatibility/2006" xmlns:p14="http://schemas.microsoft.com/office/powerpoint/2010/main">
    <mc:Choice Requires="p14">
      <p:transition spd="slow" p14:dur="2000" advTm="14976"/>
    </mc:Choice>
    <mc:Fallback xmlns="">
      <p:transition spd="slow" advTm="1497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457200"/>
            <a:ext cx="6262164" cy="769441"/>
          </a:xfrm>
          <a:prstGeom prst="rect">
            <a:avLst/>
          </a:prstGeom>
          <a:noFill/>
        </p:spPr>
        <p:txBody>
          <a:bodyPr wrap="none">
            <a:spAutoFit/>
          </a:bodyPr>
          <a:lstStyle/>
          <a:p>
            <a:pPr>
              <a:defRPr sz="2800" b="1">
                <a:solidFill>
                  <a:srgbClr val="0B1D3A"/>
                </a:solidFill>
              </a:defRPr>
            </a:pPr>
            <a:r>
              <a:rPr dirty="0"/>
              <a:t>Executive Summary</a:t>
            </a:r>
          </a:p>
          <a:p>
            <a:pPr>
              <a:defRPr sz="1400">
                <a:solidFill>
                  <a:srgbClr val="646E78"/>
                </a:solidFill>
              </a:defRPr>
            </a:pPr>
            <a:r>
              <a:rPr sz="1600" dirty="0">
                <a:solidFill>
                  <a:schemeClr val="tx1">
                    <a:lumMod val="85000"/>
                    <a:lumOff val="15000"/>
                  </a:schemeClr>
                </a:solidFill>
              </a:rPr>
              <a:t>Turning Predictive Attrition Modeling into Bottom-Line Corporate </a:t>
            </a:r>
            <a:r>
              <a:rPr lang="en-US" sz="1600" dirty="0">
                <a:solidFill>
                  <a:schemeClr val="tx1">
                    <a:lumMod val="85000"/>
                    <a:lumOff val="15000"/>
                  </a:schemeClr>
                </a:solidFill>
              </a:rPr>
              <a:t>Savings</a:t>
            </a:r>
            <a:endParaRPr sz="1600" dirty="0">
              <a:solidFill>
                <a:schemeClr val="tx1">
                  <a:lumMod val="85000"/>
                  <a:lumOff val="15000"/>
                </a:schemeClr>
              </a:solidFill>
            </a:endParaRPr>
          </a:p>
        </p:txBody>
      </p:sp>
      <p:sp>
        <p:nvSpPr>
          <p:cNvPr id="3" name="Rectangle 2"/>
          <p:cNvSpPr/>
          <p:nvPr/>
        </p:nvSpPr>
        <p:spPr>
          <a:xfrm>
            <a:off x="685800" y="1645920"/>
            <a:ext cx="5212080" cy="1920240"/>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737360"/>
            <a:ext cx="4937760" cy="1323439"/>
          </a:xfrm>
          <a:prstGeom prst="rect">
            <a:avLst/>
          </a:prstGeom>
          <a:noFill/>
        </p:spPr>
        <p:txBody>
          <a:bodyPr wrap="square">
            <a:spAutoFit/>
          </a:bodyPr>
          <a:lstStyle/>
          <a:p>
            <a:pPr>
              <a:defRPr sz="1600" b="1">
                <a:solidFill>
                  <a:srgbClr val="1F77B4"/>
                </a:solidFill>
              </a:defRPr>
            </a:pPr>
            <a:r>
              <a:rPr dirty="0"/>
              <a:t>The Mission</a:t>
            </a:r>
          </a:p>
          <a:p>
            <a:pPr>
              <a:defRPr sz="1200">
                <a:solidFill>
                  <a:srgbClr val="282C34"/>
                </a:solidFill>
              </a:defRPr>
            </a:pPr>
            <a:r>
              <a:rPr sz="1600" dirty="0"/>
              <a:t>DDSAnalytics was retained by Frito-Lay to analyze workforce patterns, identify structural root causes of voluntary turnover, and build a localized predictive model capable of capturing flight risk prior to resignation.</a:t>
            </a:r>
          </a:p>
        </p:txBody>
      </p:sp>
      <p:sp>
        <p:nvSpPr>
          <p:cNvPr id="5" name="Rectangle 4"/>
          <p:cNvSpPr/>
          <p:nvPr/>
        </p:nvSpPr>
        <p:spPr>
          <a:xfrm>
            <a:off x="6293815" y="1645920"/>
            <a:ext cx="5212080" cy="1920240"/>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30975" y="1737360"/>
            <a:ext cx="4937760" cy="1323439"/>
          </a:xfrm>
          <a:prstGeom prst="rect">
            <a:avLst/>
          </a:prstGeom>
          <a:noFill/>
        </p:spPr>
        <p:txBody>
          <a:bodyPr wrap="square">
            <a:spAutoFit/>
          </a:bodyPr>
          <a:lstStyle/>
          <a:p>
            <a:pPr>
              <a:defRPr sz="1600" b="1">
                <a:solidFill>
                  <a:srgbClr val="1F77B4"/>
                </a:solidFill>
              </a:defRPr>
            </a:pPr>
            <a:r>
              <a:rPr dirty="0"/>
              <a:t>The Findings</a:t>
            </a:r>
          </a:p>
          <a:p>
            <a:pPr>
              <a:defRPr sz="1200">
                <a:solidFill>
                  <a:srgbClr val="282C34"/>
                </a:solidFill>
              </a:defRPr>
            </a:pPr>
            <a:r>
              <a:rPr sz="1600" dirty="0"/>
              <a:t>Financial exposure is heavily skewed by employee seniority. Standard statistical models fail because they prioritize overall accuracy over corporate fiscal reality and varying replacement liabilities.</a:t>
            </a:r>
          </a:p>
        </p:txBody>
      </p:sp>
      <p:sp>
        <p:nvSpPr>
          <p:cNvPr id="7" name="Rectangle 6"/>
          <p:cNvSpPr/>
          <p:nvPr/>
        </p:nvSpPr>
        <p:spPr>
          <a:xfrm>
            <a:off x="685800" y="3931920"/>
            <a:ext cx="5212080" cy="1920240"/>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4023360"/>
            <a:ext cx="4937760" cy="1323439"/>
          </a:xfrm>
          <a:prstGeom prst="rect">
            <a:avLst/>
          </a:prstGeom>
          <a:noFill/>
        </p:spPr>
        <p:txBody>
          <a:bodyPr wrap="square">
            <a:spAutoFit/>
          </a:bodyPr>
          <a:lstStyle/>
          <a:p>
            <a:pPr>
              <a:defRPr sz="1600" b="1">
                <a:solidFill>
                  <a:srgbClr val="1F77B4"/>
                </a:solidFill>
              </a:defRPr>
            </a:pPr>
            <a:r>
              <a:rPr dirty="0"/>
              <a:t>The Solution</a:t>
            </a:r>
          </a:p>
          <a:p>
            <a:pPr>
              <a:defRPr sz="1200">
                <a:solidFill>
                  <a:srgbClr val="282C34"/>
                </a:solidFill>
              </a:defRPr>
            </a:pPr>
            <a:r>
              <a:rPr sz="1600" dirty="0"/>
              <a:t>An algorithmic approach optimized for maximum financial return, pairing a proactive tracking framework with a low-cost, high-impact intervention program ($200 incentive per flagged staff).</a:t>
            </a:r>
          </a:p>
        </p:txBody>
      </p:sp>
      <p:sp>
        <p:nvSpPr>
          <p:cNvPr id="9" name="Rectangle 8"/>
          <p:cNvSpPr/>
          <p:nvPr/>
        </p:nvSpPr>
        <p:spPr>
          <a:xfrm>
            <a:off x="6293815" y="3931920"/>
            <a:ext cx="5212080" cy="1920240"/>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30975" y="4023360"/>
            <a:ext cx="4937760" cy="1569660"/>
          </a:xfrm>
          <a:prstGeom prst="rect">
            <a:avLst/>
          </a:prstGeom>
          <a:noFill/>
        </p:spPr>
        <p:txBody>
          <a:bodyPr wrap="square">
            <a:spAutoFit/>
          </a:bodyPr>
          <a:lstStyle/>
          <a:p>
            <a:pPr>
              <a:defRPr sz="1600" b="1">
                <a:solidFill>
                  <a:srgbClr val="1F77B4"/>
                </a:solidFill>
              </a:defRPr>
            </a:pPr>
            <a:r>
              <a:rPr dirty="0"/>
              <a:t>The Bottom Line</a:t>
            </a:r>
          </a:p>
          <a:p>
            <a:pPr>
              <a:defRPr sz="1200">
                <a:solidFill>
                  <a:srgbClr val="282C34"/>
                </a:solidFill>
              </a:defRPr>
            </a:pPr>
            <a:r>
              <a:rPr sz="1600" dirty="0"/>
              <a:t>By deploying targeted outreach packages based on model recommendations, Frito-Lay can capture </a:t>
            </a:r>
            <a:r>
              <a:rPr sz="1600" b="1" dirty="0"/>
              <a:t>$</a:t>
            </a:r>
            <a:r>
              <a:rPr lang="en-US" sz="1600" b="1" dirty="0"/>
              <a:t>521</a:t>
            </a:r>
            <a:r>
              <a:rPr sz="1600" b="1" dirty="0"/>
              <a:t>,</a:t>
            </a:r>
            <a:r>
              <a:rPr lang="en-US" sz="1600" b="1" dirty="0"/>
              <a:t>005</a:t>
            </a:r>
            <a:r>
              <a:rPr sz="1600" dirty="0"/>
              <a:t> in net corporate cost savings across a standard 174-person employee slice.</a:t>
            </a:r>
            <a:endParaRPr lang="en-US" sz="1600" dirty="0"/>
          </a:p>
          <a:p>
            <a:pPr>
              <a:defRPr sz="1200">
                <a:solidFill>
                  <a:srgbClr val="282C34"/>
                </a:solidFill>
              </a:defRPr>
            </a:pPr>
            <a:endParaRPr lang="en-US" sz="1600" dirty="0"/>
          </a:p>
        </p:txBody>
      </p:sp>
      <p:sp>
        <p:nvSpPr>
          <p:cNvPr id="12" name="TextBox 11">
            <a:extLst>
              <a:ext uri="{FF2B5EF4-FFF2-40B4-BE49-F238E27FC236}">
                <a16:creationId xmlns:a16="http://schemas.microsoft.com/office/drawing/2014/main" id="{0D0E3466-CC8B-F618-EC8A-6B84B06A9207}"/>
              </a:ext>
            </a:extLst>
          </p:cNvPr>
          <p:cNvSpPr txBox="1"/>
          <p:nvPr/>
        </p:nvSpPr>
        <p:spPr>
          <a:xfrm>
            <a:off x="0" y="6460607"/>
            <a:ext cx="5636435" cy="400110"/>
          </a:xfrm>
          <a:prstGeom prst="rect">
            <a:avLst/>
          </a:prstGeom>
          <a:noFill/>
        </p:spPr>
        <p:txBody>
          <a:bodyPr wrap="square" rtlCol="0">
            <a:spAutoFit/>
          </a:bodyPr>
          <a:lstStyle/>
          <a:p>
            <a:pPr>
              <a:defRPr sz="4000" b="1">
                <a:solidFill>
                  <a:srgbClr val="FFFFFF"/>
                </a:solidFill>
              </a:defRPr>
            </a:pPr>
            <a:r>
              <a:rPr lang="en-US" sz="2000" dirty="0">
                <a:solidFill>
                  <a:schemeClr val="tx2"/>
                </a:solidFill>
              </a:rPr>
              <a:t>DDSAnalytics Talent Management Solutions</a:t>
            </a:r>
          </a:p>
        </p:txBody>
      </p:sp>
      <p:sp>
        <p:nvSpPr>
          <p:cNvPr id="13" name="Slide Number Placeholder 12">
            <a:extLst>
              <a:ext uri="{FF2B5EF4-FFF2-40B4-BE49-F238E27FC236}">
                <a16:creationId xmlns:a16="http://schemas.microsoft.com/office/drawing/2014/main" id="{EE80817E-A300-740A-EC6A-CCFE4ACA82FC}"/>
              </a:ext>
            </a:extLst>
          </p:cNvPr>
          <p:cNvSpPr>
            <a:spLocks noGrp="1"/>
          </p:cNvSpPr>
          <p:nvPr>
            <p:ph type="sldNum" sz="quarter" idx="12"/>
          </p:nvPr>
        </p:nvSpPr>
        <p:spPr>
          <a:xfrm>
            <a:off x="10058400" y="6492612"/>
            <a:ext cx="2133600" cy="365125"/>
          </a:xfrm>
        </p:spPr>
        <p:txBody>
          <a:bodyPr/>
          <a:lstStyle/>
          <a:p>
            <a:r>
              <a:rPr lang="en-US" dirty="0">
                <a:solidFill>
                  <a:schemeClr val="tx1"/>
                </a:solidFill>
              </a:rPr>
              <a:t>Slide </a:t>
            </a:r>
            <a:fld id="{C1FF6DA9-008F-8B48-92A6-B652298478BF}" type="slidenum">
              <a:rPr lang="en-US" smtClean="0">
                <a:solidFill>
                  <a:schemeClr val="tx1"/>
                </a:solidFill>
              </a:rPr>
              <a:t>2</a:t>
            </a:fld>
            <a:endParaRPr lang="en-US" dirty="0">
              <a:solidFill>
                <a:schemeClr val="tx1"/>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3495"/>
    </mc:Choice>
    <mc:Fallback xmlns="">
      <p:transition spd="slow" advTm="7349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p:bldP spid="7" grpId="0" animBg="1"/>
      <p:bldP spid="8" grpId="0"/>
      <p:bldP spid="9" grpId="0" animBg="1"/>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457200"/>
            <a:ext cx="5699830" cy="769441"/>
          </a:xfrm>
          <a:prstGeom prst="rect">
            <a:avLst/>
          </a:prstGeom>
          <a:noFill/>
        </p:spPr>
        <p:txBody>
          <a:bodyPr wrap="none">
            <a:spAutoFit/>
          </a:bodyPr>
          <a:lstStyle/>
          <a:p>
            <a:pPr>
              <a:defRPr sz="2800" b="1">
                <a:solidFill>
                  <a:srgbClr val="0B1D3A"/>
                </a:solidFill>
              </a:defRPr>
            </a:pPr>
            <a:r>
              <a:rPr dirty="0"/>
              <a:t>The Core Vulnerability</a:t>
            </a:r>
          </a:p>
          <a:p>
            <a:pPr>
              <a:defRPr sz="1400">
                <a:solidFill>
                  <a:srgbClr val="646E78"/>
                </a:solidFill>
              </a:defRPr>
            </a:pPr>
            <a:r>
              <a:rPr sz="1600" dirty="0">
                <a:solidFill>
                  <a:schemeClr val="tx1">
                    <a:lumMod val="85000"/>
                    <a:lumOff val="15000"/>
                  </a:schemeClr>
                </a:solidFill>
              </a:rPr>
              <a:t>Top 3 Drivers of Attrition at Frito-Lay Backed by Empirical Evidence</a:t>
            </a:r>
          </a:p>
        </p:txBody>
      </p:sp>
      <p:sp>
        <p:nvSpPr>
          <p:cNvPr id="3" name="Rectangle 2"/>
          <p:cNvSpPr/>
          <p:nvPr/>
        </p:nvSpPr>
        <p:spPr>
          <a:xfrm>
            <a:off x="685800" y="1645920"/>
            <a:ext cx="3383280" cy="3920573"/>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737360"/>
            <a:ext cx="3108960" cy="3739485"/>
          </a:xfrm>
          <a:prstGeom prst="rect">
            <a:avLst/>
          </a:prstGeom>
          <a:noFill/>
        </p:spPr>
        <p:txBody>
          <a:bodyPr wrap="square">
            <a:spAutoFit/>
          </a:bodyPr>
          <a:lstStyle/>
          <a:p>
            <a:pPr>
              <a:defRPr sz="1600" b="1">
                <a:solidFill>
                  <a:srgbClr val="D62728"/>
                </a:solidFill>
              </a:defRPr>
            </a:pPr>
            <a:r>
              <a:rPr dirty="0"/>
              <a:t>1. Over</a:t>
            </a:r>
            <a:r>
              <a:rPr lang="en-US" dirty="0"/>
              <a:t>t</a:t>
            </a:r>
            <a:r>
              <a:rPr dirty="0"/>
              <a:t>ime Status</a:t>
            </a:r>
          </a:p>
          <a:p>
            <a:pPr>
              <a:defRPr sz="1100" i="1">
                <a:solidFill>
                  <a:srgbClr val="646E78"/>
                </a:solidFill>
              </a:defRPr>
            </a:pPr>
            <a:r>
              <a:rPr dirty="0"/>
              <a:t>Burnout proxy driving staff departure</a:t>
            </a:r>
          </a:p>
          <a:p>
            <a:br>
              <a:rPr dirty="0"/>
            </a:br>
            <a:r>
              <a:rPr sz="1600" dirty="0"/>
              <a:t>Employees working overtime experience significantly higher attrition compared to standard schedules.</a:t>
            </a:r>
            <a:br>
              <a:rPr sz="1600" dirty="0"/>
            </a:br>
            <a:br>
              <a:rPr sz="1600" dirty="0"/>
            </a:br>
            <a:r>
              <a:rPr sz="1600" dirty="0"/>
              <a:t>• Overtime Attrition Rate: 30.5%</a:t>
            </a:r>
            <a:br>
              <a:rPr sz="1600" dirty="0"/>
            </a:br>
            <a:r>
              <a:rPr sz="1600" dirty="0"/>
              <a:t>• Standard Attrition Rate: 10.4%</a:t>
            </a:r>
            <a:br>
              <a:rPr sz="1600" dirty="0"/>
            </a:br>
            <a:br>
              <a:rPr sz="1600" dirty="0"/>
            </a:br>
            <a:r>
              <a:rPr sz="1600" dirty="0"/>
              <a:t>Redesigning workflows or expanding capacity in high-overtime groups acts as a primary preventative shield.</a:t>
            </a:r>
            <a:endParaRPr dirty="0"/>
          </a:p>
        </p:txBody>
      </p:sp>
      <p:sp>
        <p:nvSpPr>
          <p:cNvPr id="5" name="Rectangle 4"/>
          <p:cNvSpPr/>
          <p:nvPr/>
        </p:nvSpPr>
        <p:spPr>
          <a:xfrm>
            <a:off x="4403750" y="1645920"/>
            <a:ext cx="3383280" cy="3920573"/>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40910" y="1737360"/>
            <a:ext cx="3108960" cy="3493264"/>
          </a:xfrm>
          <a:prstGeom prst="rect">
            <a:avLst/>
          </a:prstGeom>
          <a:noFill/>
        </p:spPr>
        <p:txBody>
          <a:bodyPr wrap="square">
            <a:spAutoFit/>
          </a:bodyPr>
          <a:lstStyle/>
          <a:p>
            <a:pPr>
              <a:defRPr sz="1600" b="1">
                <a:solidFill>
                  <a:srgbClr val="D62728"/>
                </a:solidFill>
              </a:defRPr>
            </a:pPr>
            <a:r>
              <a:rPr dirty="0"/>
              <a:t>2. Job</a:t>
            </a:r>
            <a:r>
              <a:rPr lang="en-US" dirty="0"/>
              <a:t> </a:t>
            </a:r>
            <a:r>
              <a:rPr dirty="0"/>
              <a:t>Role &amp; Context</a:t>
            </a:r>
          </a:p>
          <a:p>
            <a:pPr>
              <a:defRPr sz="1100" i="1">
                <a:solidFill>
                  <a:srgbClr val="646E78"/>
                </a:solidFill>
              </a:defRPr>
            </a:pPr>
            <a:r>
              <a:rPr dirty="0"/>
              <a:t>Role pressures and alignment risk</a:t>
            </a:r>
          </a:p>
          <a:p>
            <a:br>
              <a:rPr dirty="0"/>
            </a:br>
            <a:r>
              <a:rPr sz="1600" dirty="0"/>
              <a:t>Turnover is heavily concentrated within specific front-line and execution-heavy job positions.</a:t>
            </a:r>
            <a:br>
              <a:rPr sz="1600" dirty="0"/>
            </a:br>
            <a:br>
              <a:rPr sz="1600" dirty="0"/>
            </a:br>
            <a:r>
              <a:rPr sz="1600" dirty="0"/>
              <a:t>• Sales Representatives: 39.8%</a:t>
            </a:r>
            <a:br>
              <a:rPr sz="1600" dirty="0"/>
            </a:br>
            <a:r>
              <a:rPr sz="1600" dirty="0"/>
              <a:t>• Laboratory Technicians: 23.9%</a:t>
            </a:r>
            <a:br>
              <a:rPr sz="1600" dirty="0"/>
            </a:br>
            <a:br>
              <a:rPr sz="1600" dirty="0"/>
            </a:br>
            <a:r>
              <a:rPr sz="1600" dirty="0"/>
              <a:t>Low entry-level job involvement or lack of clear skill progression demands targeted pathing overhauls.</a:t>
            </a:r>
            <a:endParaRPr dirty="0"/>
          </a:p>
        </p:txBody>
      </p:sp>
      <p:sp>
        <p:nvSpPr>
          <p:cNvPr id="7" name="Rectangle 6"/>
          <p:cNvSpPr/>
          <p:nvPr/>
        </p:nvSpPr>
        <p:spPr>
          <a:xfrm>
            <a:off x="8122615" y="1645920"/>
            <a:ext cx="3383280" cy="3920573"/>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59775" y="1737360"/>
            <a:ext cx="3108960" cy="3247043"/>
          </a:xfrm>
          <a:prstGeom prst="rect">
            <a:avLst/>
          </a:prstGeom>
          <a:noFill/>
        </p:spPr>
        <p:txBody>
          <a:bodyPr wrap="square">
            <a:spAutoFit/>
          </a:bodyPr>
          <a:lstStyle/>
          <a:p>
            <a:pPr>
              <a:defRPr sz="1600" b="1">
                <a:solidFill>
                  <a:srgbClr val="D62728"/>
                </a:solidFill>
              </a:defRPr>
            </a:pPr>
            <a:r>
              <a:rPr dirty="0"/>
              <a:t>3. Wage Compression</a:t>
            </a:r>
          </a:p>
          <a:p>
            <a:pPr>
              <a:defRPr sz="1100" i="1">
                <a:solidFill>
                  <a:srgbClr val="646E78"/>
                </a:solidFill>
              </a:defRPr>
            </a:pPr>
            <a:r>
              <a:rPr dirty="0"/>
              <a:t>Financial tiering accelerates flight</a:t>
            </a:r>
          </a:p>
          <a:p>
            <a:br>
              <a:rPr dirty="0"/>
            </a:br>
            <a:r>
              <a:rPr sz="1600" dirty="0"/>
              <a:t>Lower tier compensation tightly correlates with structural flight patterns within the first 1-3 years of tenure.</a:t>
            </a:r>
            <a:br>
              <a:rPr sz="1600" dirty="0"/>
            </a:br>
            <a:br>
              <a:rPr sz="1600" dirty="0"/>
            </a:br>
            <a:r>
              <a:rPr sz="1600" dirty="0"/>
              <a:t>• Avg Monthly Income (Departed): $4,787</a:t>
            </a:r>
            <a:br>
              <a:rPr sz="1600" dirty="0"/>
            </a:br>
            <a:r>
              <a:rPr sz="1600" dirty="0"/>
              <a:t>• Avg Monthly Income (Retained): $6,833</a:t>
            </a:r>
            <a:br>
              <a:rPr sz="1600" dirty="0"/>
            </a:br>
            <a:r>
              <a:rPr sz="1600" dirty="0"/>
              <a:t>• Job Level 1 Attrition Rate: 27.6%</a:t>
            </a:r>
            <a:endParaRPr dirty="0"/>
          </a:p>
        </p:txBody>
      </p:sp>
      <p:sp>
        <p:nvSpPr>
          <p:cNvPr id="10" name="TextBox 9">
            <a:extLst>
              <a:ext uri="{FF2B5EF4-FFF2-40B4-BE49-F238E27FC236}">
                <a16:creationId xmlns:a16="http://schemas.microsoft.com/office/drawing/2014/main" id="{79A0F681-C588-826E-3334-716973381C32}"/>
              </a:ext>
            </a:extLst>
          </p:cNvPr>
          <p:cNvSpPr txBox="1"/>
          <p:nvPr/>
        </p:nvSpPr>
        <p:spPr>
          <a:xfrm>
            <a:off x="0" y="6460607"/>
            <a:ext cx="5636435" cy="400110"/>
          </a:xfrm>
          <a:prstGeom prst="rect">
            <a:avLst/>
          </a:prstGeom>
          <a:noFill/>
        </p:spPr>
        <p:txBody>
          <a:bodyPr wrap="square" rtlCol="0">
            <a:spAutoFit/>
          </a:bodyPr>
          <a:lstStyle/>
          <a:p>
            <a:pPr>
              <a:defRPr sz="4000" b="1">
                <a:solidFill>
                  <a:srgbClr val="FFFFFF"/>
                </a:solidFill>
              </a:defRPr>
            </a:pPr>
            <a:r>
              <a:rPr lang="en-US" sz="2000" dirty="0">
                <a:solidFill>
                  <a:schemeClr val="tx2"/>
                </a:solidFill>
              </a:rPr>
              <a:t>DDSAnalytics Talent Management Solutions</a:t>
            </a:r>
          </a:p>
        </p:txBody>
      </p:sp>
      <p:sp>
        <p:nvSpPr>
          <p:cNvPr id="12" name="Slide Number Placeholder 12">
            <a:extLst>
              <a:ext uri="{FF2B5EF4-FFF2-40B4-BE49-F238E27FC236}">
                <a16:creationId xmlns:a16="http://schemas.microsoft.com/office/drawing/2014/main" id="{75B4C8B1-322B-380F-1B03-8FBC07AD688C}"/>
              </a:ext>
            </a:extLst>
          </p:cNvPr>
          <p:cNvSpPr txBox="1">
            <a:spLocks/>
          </p:cNvSpPr>
          <p:nvPr/>
        </p:nvSpPr>
        <p:spPr>
          <a:xfrm>
            <a:off x="10058400" y="6495592"/>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tx1"/>
                </a:solidFill>
              </a:rPr>
              <a:t>Slide </a:t>
            </a:r>
            <a:fld id="{C1FF6DA9-008F-8B48-92A6-B652298478BF}" type="slidenum">
              <a:rPr lang="en-US" smtClean="0">
                <a:solidFill>
                  <a:schemeClr val="tx1"/>
                </a:solidFill>
              </a:rPr>
              <a:pPr/>
              <a:t>3</a:t>
            </a:fld>
            <a:endParaRPr lang="en-US" dirty="0">
              <a:solidFill>
                <a:schemeClr val="tx1"/>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2517"/>
    </mc:Choice>
    <mc:Fallback xmlns="">
      <p:transition spd="slow" advTm="5251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p:bldP spid="7" grpId="0" animBg="1"/>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457200"/>
            <a:ext cx="5830314" cy="769441"/>
          </a:xfrm>
          <a:prstGeom prst="rect">
            <a:avLst/>
          </a:prstGeom>
          <a:noFill/>
        </p:spPr>
        <p:txBody>
          <a:bodyPr wrap="none">
            <a:spAutoFit/>
          </a:bodyPr>
          <a:lstStyle/>
          <a:p>
            <a:pPr>
              <a:defRPr sz="2800" b="1">
                <a:solidFill>
                  <a:srgbClr val="0B1D3A"/>
                </a:solidFill>
              </a:defRPr>
            </a:pPr>
            <a:r>
              <a:rPr dirty="0"/>
              <a:t>Shifting the Analytical Paradigm</a:t>
            </a:r>
          </a:p>
          <a:p>
            <a:pPr>
              <a:defRPr sz="1400">
                <a:solidFill>
                  <a:srgbClr val="646E78"/>
                </a:solidFill>
              </a:defRPr>
            </a:pPr>
            <a:r>
              <a:rPr sz="1600" dirty="0">
                <a:solidFill>
                  <a:schemeClr val="tx1">
                    <a:lumMod val="85000"/>
                    <a:lumOff val="15000"/>
                  </a:schemeClr>
                </a:solidFill>
              </a:rPr>
              <a:t>Moving from Simple Statistical Accuracy to Pure Profit Maximization</a:t>
            </a:r>
          </a:p>
        </p:txBody>
      </p:sp>
      <p:sp>
        <p:nvSpPr>
          <p:cNvPr id="3" name="Rectangle 2"/>
          <p:cNvSpPr/>
          <p:nvPr/>
        </p:nvSpPr>
        <p:spPr>
          <a:xfrm>
            <a:off x="685800" y="1645920"/>
            <a:ext cx="5212080" cy="4206240"/>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737360"/>
            <a:ext cx="4937760" cy="4023360"/>
          </a:xfrm>
          <a:prstGeom prst="rect">
            <a:avLst/>
          </a:prstGeom>
          <a:noFill/>
        </p:spPr>
        <p:txBody>
          <a:bodyPr wrap="square">
            <a:spAutoFit/>
          </a:bodyPr>
          <a:lstStyle/>
          <a:p>
            <a:pPr>
              <a:defRPr sz="1600" b="1">
                <a:solidFill>
                  <a:srgbClr val="282C34"/>
                </a:solidFill>
              </a:defRPr>
            </a:pPr>
            <a:r>
              <a:rPr dirty="0"/>
              <a:t>Traditional Approach</a:t>
            </a:r>
            <a:br>
              <a:rPr dirty="0"/>
            </a:br>
            <a:r>
              <a:rPr dirty="0"/>
              <a:t>(Maximizes General Accuracy)</a:t>
            </a:r>
          </a:p>
          <a:p>
            <a:br>
              <a:rPr dirty="0"/>
            </a:br>
            <a:r>
              <a:rPr dirty="0"/>
              <a:t>• The Flaw of Default Cutoffs: Standard classifiers cut calculations off at a generic 50% probability threshold to balance mistakes evenly.</a:t>
            </a:r>
            <a:br>
              <a:rPr dirty="0"/>
            </a:br>
            <a:br>
              <a:rPr dirty="0"/>
            </a:br>
            <a:r>
              <a:rPr dirty="0"/>
              <a:t>• Equal Penalties: Treats false alarms and missed resignations as having identical fiscal impacts.</a:t>
            </a:r>
            <a:br>
              <a:rPr dirty="0"/>
            </a:br>
            <a:br>
              <a:rPr dirty="0"/>
            </a:br>
            <a:r>
              <a:rPr dirty="0"/>
              <a:t>• Outcome: Causes major financial blind spots, failing to protect high-level roles from steep recruitment penalties.</a:t>
            </a:r>
          </a:p>
        </p:txBody>
      </p:sp>
      <p:sp>
        <p:nvSpPr>
          <p:cNvPr id="5" name="Rectangle 4"/>
          <p:cNvSpPr/>
          <p:nvPr/>
        </p:nvSpPr>
        <p:spPr>
          <a:xfrm>
            <a:off x="6293815" y="1645920"/>
            <a:ext cx="5212080" cy="4206240"/>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30975" y="1737360"/>
            <a:ext cx="4937760" cy="3631763"/>
          </a:xfrm>
          <a:prstGeom prst="rect">
            <a:avLst/>
          </a:prstGeom>
          <a:noFill/>
        </p:spPr>
        <p:txBody>
          <a:bodyPr wrap="square">
            <a:spAutoFit/>
          </a:bodyPr>
          <a:lstStyle/>
          <a:p>
            <a:pPr>
              <a:defRPr sz="1600" b="1">
                <a:solidFill>
                  <a:srgbClr val="FFFFFF"/>
                </a:solidFill>
              </a:defRPr>
            </a:pPr>
            <a:r>
              <a:rPr dirty="0"/>
              <a:t>DDSAnalytics ROI Engine</a:t>
            </a:r>
            <a:br>
              <a:rPr dirty="0"/>
            </a:br>
            <a:r>
              <a:rPr dirty="0"/>
              <a:t>(Maximizes Net Savings)</a:t>
            </a:r>
          </a:p>
          <a:p>
            <a:br>
              <a:rPr dirty="0"/>
            </a:br>
            <a:r>
              <a:rPr dirty="0">
                <a:solidFill>
                  <a:schemeClr val="bg1"/>
                </a:solidFill>
              </a:rPr>
              <a:t>• Calibrated to Corporate Costs: Balances a tiny $200 prevention incentive against a severe $300,000 executive loss penalty.</a:t>
            </a:r>
            <a:br>
              <a:rPr dirty="0">
                <a:solidFill>
                  <a:schemeClr val="bg1"/>
                </a:solidFill>
              </a:rPr>
            </a:br>
            <a:br>
              <a:rPr dirty="0">
                <a:solidFill>
                  <a:schemeClr val="bg1"/>
                </a:solidFill>
              </a:rPr>
            </a:br>
            <a:r>
              <a:rPr dirty="0">
                <a:solidFill>
                  <a:schemeClr val="bg1"/>
                </a:solidFill>
              </a:rPr>
              <a:t>• Optimized Thresholding: Searches dynamically to locate the precise position where corporate liabilities drop to their absolute minimum.</a:t>
            </a:r>
            <a:br>
              <a:rPr dirty="0">
                <a:solidFill>
                  <a:schemeClr val="bg1"/>
                </a:solidFill>
              </a:rPr>
            </a:br>
            <a:br>
              <a:rPr dirty="0">
                <a:solidFill>
                  <a:schemeClr val="bg1"/>
                </a:solidFill>
              </a:rPr>
            </a:br>
            <a:r>
              <a:rPr dirty="0">
                <a:solidFill>
                  <a:schemeClr val="bg1"/>
                </a:solidFill>
              </a:rPr>
              <a:t>• Outcome: Casts a wider, hyper-profitable safety net protecting critical organizational revenue.</a:t>
            </a:r>
          </a:p>
        </p:txBody>
      </p:sp>
      <p:sp>
        <p:nvSpPr>
          <p:cNvPr id="8" name="TextBox 7">
            <a:extLst>
              <a:ext uri="{FF2B5EF4-FFF2-40B4-BE49-F238E27FC236}">
                <a16:creationId xmlns:a16="http://schemas.microsoft.com/office/drawing/2014/main" id="{F72765FC-6A30-C770-1C11-29CA51E9F291}"/>
              </a:ext>
            </a:extLst>
          </p:cNvPr>
          <p:cNvSpPr txBox="1"/>
          <p:nvPr/>
        </p:nvSpPr>
        <p:spPr>
          <a:xfrm>
            <a:off x="0" y="6460607"/>
            <a:ext cx="5636435" cy="400110"/>
          </a:xfrm>
          <a:prstGeom prst="rect">
            <a:avLst/>
          </a:prstGeom>
          <a:noFill/>
        </p:spPr>
        <p:txBody>
          <a:bodyPr wrap="square" rtlCol="0">
            <a:spAutoFit/>
          </a:bodyPr>
          <a:lstStyle/>
          <a:p>
            <a:pPr>
              <a:defRPr sz="4000" b="1">
                <a:solidFill>
                  <a:srgbClr val="FFFFFF"/>
                </a:solidFill>
              </a:defRPr>
            </a:pPr>
            <a:r>
              <a:rPr lang="en-US" sz="2000" dirty="0">
                <a:solidFill>
                  <a:schemeClr val="tx2"/>
                </a:solidFill>
              </a:rPr>
              <a:t>DDSAnalytics Talent Management Solutions</a:t>
            </a:r>
          </a:p>
        </p:txBody>
      </p:sp>
      <p:sp>
        <p:nvSpPr>
          <p:cNvPr id="10" name="Slide Number Placeholder 12">
            <a:extLst>
              <a:ext uri="{FF2B5EF4-FFF2-40B4-BE49-F238E27FC236}">
                <a16:creationId xmlns:a16="http://schemas.microsoft.com/office/drawing/2014/main" id="{680873C3-CDF5-9D50-3193-1861A5C2D437}"/>
              </a:ext>
            </a:extLst>
          </p:cNvPr>
          <p:cNvSpPr txBox="1">
            <a:spLocks/>
          </p:cNvSpPr>
          <p:nvPr/>
        </p:nvSpPr>
        <p:spPr>
          <a:xfrm>
            <a:off x="10058400" y="6495592"/>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tx1"/>
                </a:solidFill>
              </a:rPr>
              <a:t>Slide </a:t>
            </a:r>
            <a:fld id="{C1FF6DA9-008F-8B48-92A6-B652298478BF}" type="slidenum">
              <a:rPr lang="en-US" smtClean="0">
                <a:solidFill>
                  <a:schemeClr val="tx1"/>
                </a:solidFill>
              </a:rPr>
              <a:pPr/>
              <a:t>4</a:t>
            </a:fld>
            <a:endParaRPr lang="en-US" dirty="0">
              <a:solidFill>
                <a:schemeClr val="tx1"/>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2071"/>
    </mc:Choice>
    <mc:Fallback xmlns="">
      <p:transition spd="slow" advTm="9207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457200"/>
            <a:ext cx="6481711" cy="769441"/>
          </a:xfrm>
          <a:prstGeom prst="rect">
            <a:avLst/>
          </a:prstGeom>
          <a:noFill/>
        </p:spPr>
        <p:txBody>
          <a:bodyPr wrap="none">
            <a:spAutoFit/>
          </a:bodyPr>
          <a:lstStyle/>
          <a:p>
            <a:pPr>
              <a:defRPr sz="2800" b="1">
                <a:solidFill>
                  <a:srgbClr val="0B1D3A"/>
                </a:solidFill>
              </a:defRPr>
            </a:pPr>
            <a:r>
              <a:rPr dirty="0"/>
              <a:t>Model Validation Performance</a:t>
            </a:r>
          </a:p>
          <a:p>
            <a:pPr>
              <a:defRPr sz="1400">
                <a:solidFill>
                  <a:srgbClr val="646E78"/>
                </a:solidFill>
              </a:defRPr>
            </a:pPr>
            <a:r>
              <a:rPr sz="1600" dirty="0">
                <a:solidFill>
                  <a:schemeClr val="tx1">
                    <a:lumMod val="85000"/>
                    <a:lumOff val="15000"/>
                  </a:schemeClr>
                </a:solidFill>
              </a:rPr>
              <a:t>Auditing the Risk Mitigation Matrix against the 174-Person Validation Group</a:t>
            </a:r>
          </a:p>
        </p:txBody>
      </p:sp>
      <p:graphicFrame>
        <p:nvGraphicFramePr>
          <p:cNvPr id="3" name="Table 2"/>
          <p:cNvGraphicFramePr>
            <a:graphicFrameLocks noGrp="1"/>
          </p:cNvGraphicFramePr>
          <p:nvPr>
            <p:extLst>
              <p:ext uri="{D42A27DB-BD31-4B8C-83A1-F6EECF244321}">
                <p14:modId xmlns:p14="http://schemas.microsoft.com/office/powerpoint/2010/main" val="1151963410"/>
              </p:ext>
            </p:extLst>
          </p:nvPr>
        </p:nvGraphicFramePr>
        <p:xfrm>
          <a:off x="685800" y="2143834"/>
          <a:ext cx="5943600" cy="27432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914400">
                <a:tc>
                  <a:txBody>
                    <a:bodyPr/>
                    <a:lstStyle/>
                    <a:p>
                      <a:pPr algn="ctr">
                        <a:defRPr sz="1300" b="1">
                          <a:solidFill>
                            <a:srgbClr val="FFFFFF"/>
                          </a:solidFill>
                        </a:defRPr>
                      </a:pPr>
                      <a:endParaRPr dirty="0"/>
                    </a:p>
                  </a:txBody>
                  <a:tcPr>
                    <a:solidFill>
                      <a:schemeClr val="tx2"/>
                    </a:solidFill>
                  </a:tcPr>
                </a:tc>
                <a:tc>
                  <a:txBody>
                    <a:bodyPr/>
                    <a:lstStyle/>
                    <a:p>
                      <a:pPr algn="ctr">
                        <a:defRPr sz="1300" b="1">
                          <a:solidFill>
                            <a:srgbClr val="FFFFFF"/>
                          </a:solidFill>
                        </a:defRPr>
                      </a:pPr>
                      <a:r>
                        <a:rPr dirty="0"/>
                        <a:t>Actual: Retained (No)</a:t>
                      </a:r>
                    </a:p>
                  </a:txBody>
                  <a:tcPr>
                    <a:solidFill>
                      <a:schemeClr val="tx2"/>
                    </a:solidFill>
                  </a:tcPr>
                </a:tc>
                <a:tc>
                  <a:txBody>
                    <a:bodyPr/>
                    <a:lstStyle/>
                    <a:p>
                      <a:pPr algn="ctr">
                        <a:defRPr sz="1300" b="1">
                          <a:solidFill>
                            <a:srgbClr val="FFFFFF"/>
                          </a:solidFill>
                        </a:defRPr>
                      </a:pPr>
                      <a:r>
                        <a:rPr dirty="0"/>
                        <a:t>Actual: Departed (Yes)</a:t>
                      </a:r>
                    </a:p>
                  </a:txBody>
                  <a:tcPr>
                    <a:solidFill>
                      <a:schemeClr val="tx2"/>
                    </a:solidFill>
                  </a:tcPr>
                </a:tc>
                <a:extLst>
                  <a:ext uri="{0D108BD9-81ED-4DB2-BD59-A6C34878D82A}">
                    <a16:rowId xmlns:a16="http://schemas.microsoft.com/office/drawing/2014/main" val="10000"/>
                  </a:ext>
                </a:extLst>
              </a:tr>
              <a:tr h="914400">
                <a:tc>
                  <a:txBody>
                    <a:bodyPr/>
                    <a:lstStyle/>
                    <a:p>
                      <a:pPr algn="l">
                        <a:defRPr sz="1200" b="1">
                          <a:solidFill>
                            <a:srgbClr val="282C34"/>
                          </a:solidFill>
                        </a:defRPr>
                      </a:pPr>
                      <a:r>
                        <a:t>Predicted: Retained (No)</a:t>
                      </a:r>
                    </a:p>
                  </a:txBody>
                  <a:tcPr>
                    <a:solidFill>
                      <a:srgbClr val="F5F7FA"/>
                    </a:solidFill>
                  </a:tcPr>
                </a:tc>
                <a:tc>
                  <a:txBody>
                    <a:bodyPr/>
                    <a:lstStyle/>
                    <a:p>
                      <a:pPr algn="ctr">
                        <a:defRPr sz="1200" b="1">
                          <a:solidFill>
                            <a:srgbClr val="646E78"/>
                          </a:solidFill>
                        </a:defRPr>
                      </a:pPr>
                      <a:r>
                        <a:rPr lang="en-US" dirty="0"/>
                        <a:t>42</a:t>
                      </a:r>
                      <a:endParaRPr dirty="0"/>
                    </a:p>
                    <a:p>
                      <a:r>
                        <a:rPr dirty="0"/>
                        <a:t>(True Negatives)</a:t>
                      </a:r>
                    </a:p>
                  </a:txBody>
                  <a:tcPr>
                    <a:solidFill>
                      <a:srgbClr val="F5F7FA"/>
                    </a:solidFill>
                  </a:tcPr>
                </a:tc>
                <a:tc>
                  <a:txBody>
                    <a:bodyPr/>
                    <a:lstStyle/>
                    <a:p>
                      <a:pPr algn="ctr">
                        <a:defRPr sz="1200" b="1">
                          <a:solidFill>
                            <a:srgbClr val="D62728"/>
                          </a:solidFill>
                        </a:defRPr>
                      </a:pPr>
                      <a:r>
                        <a:rPr lang="en-US" dirty="0"/>
                        <a:t>1</a:t>
                      </a:r>
                      <a:endParaRPr dirty="0"/>
                    </a:p>
                    <a:p>
                      <a:r>
                        <a:rPr dirty="0"/>
                        <a:t>(False Negative)</a:t>
                      </a:r>
                    </a:p>
                  </a:txBody>
                  <a:tcPr>
                    <a:solidFill>
                      <a:srgbClr val="F5F7FA"/>
                    </a:solidFill>
                  </a:tcPr>
                </a:tc>
                <a:extLst>
                  <a:ext uri="{0D108BD9-81ED-4DB2-BD59-A6C34878D82A}">
                    <a16:rowId xmlns:a16="http://schemas.microsoft.com/office/drawing/2014/main" val="10001"/>
                  </a:ext>
                </a:extLst>
              </a:tr>
              <a:tr h="914400">
                <a:tc>
                  <a:txBody>
                    <a:bodyPr/>
                    <a:lstStyle/>
                    <a:p>
                      <a:pPr algn="l">
                        <a:defRPr sz="1200" b="1">
                          <a:solidFill>
                            <a:srgbClr val="282C34"/>
                          </a:solidFill>
                        </a:defRPr>
                      </a:pPr>
                      <a:r>
                        <a:t>Predicted: Departed (Yes)</a:t>
                      </a:r>
                    </a:p>
                  </a:txBody>
                  <a:tcPr>
                    <a:solidFill>
                      <a:srgbClr val="F5F7FA"/>
                    </a:solidFill>
                  </a:tcPr>
                </a:tc>
                <a:tc>
                  <a:txBody>
                    <a:bodyPr/>
                    <a:lstStyle/>
                    <a:p>
                      <a:pPr algn="ctr">
                        <a:defRPr sz="1200" b="1">
                          <a:solidFill>
                            <a:srgbClr val="1F77B4"/>
                          </a:solidFill>
                        </a:defRPr>
                      </a:pPr>
                      <a:r>
                        <a:rPr lang="en-US" dirty="0"/>
                        <a:t>104</a:t>
                      </a:r>
                      <a:endParaRPr dirty="0"/>
                    </a:p>
                    <a:p>
                      <a:r>
                        <a:rPr dirty="0"/>
                        <a:t>(False Positives)</a:t>
                      </a:r>
                    </a:p>
                  </a:txBody>
                  <a:tcPr>
                    <a:solidFill>
                      <a:srgbClr val="F5F7FA"/>
                    </a:solidFill>
                  </a:tcPr>
                </a:tc>
                <a:tc>
                  <a:txBody>
                    <a:bodyPr/>
                    <a:lstStyle/>
                    <a:p>
                      <a:pPr algn="ctr">
                        <a:defRPr sz="1200" b="1">
                          <a:solidFill>
                            <a:srgbClr val="2CA02C"/>
                          </a:solidFill>
                        </a:defRPr>
                      </a:pPr>
                      <a:r>
                        <a:rPr lang="en-US" dirty="0"/>
                        <a:t>27</a:t>
                      </a:r>
                      <a:endParaRPr dirty="0"/>
                    </a:p>
                    <a:p>
                      <a:r>
                        <a:rPr dirty="0"/>
                        <a:t>(True Positives)</a:t>
                      </a:r>
                    </a:p>
                  </a:txBody>
                  <a:tcPr>
                    <a:solidFill>
                      <a:srgbClr val="F5F7FA"/>
                    </a:solidFill>
                  </a:tcPr>
                </a:tc>
                <a:extLst>
                  <a:ext uri="{0D108BD9-81ED-4DB2-BD59-A6C34878D82A}">
                    <a16:rowId xmlns:a16="http://schemas.microsoft.com/office/drawing/2014/main" val="10002"/>
                  </a:ext>
                </a:extLst>
              </a:tr>
            </a:tbl>
          </a:graphicData>
        </a:graphic>
      </p:graphicFrame>
      <p:sp>
        <p:nvSpPr>
          <p:cNvPr id="4" name="Rectangle 3"/>
          <p:cNvSpPr/>
          <p:nvPr/>
        </p:nvSpPr>
        <p:spPr>
          <a:xfrm>
            <a:off x="6949440" y="2011680"/>
            <a:ext cx="4556455" cy="3007508"/>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86600" y="2103120"/>
            <a:ext cx="4282135" cy="2560320"/>
          </a:xfrm>
          <a:prstGeom prst="rect">
            <a:avLst/>
          </a:prstGeom>
          <a:noFill/>
        </p:spPr>
        <p:txBody>
          <a:bodyPr wrap="square">
            <a:spAutoFit/>
          </a:bodyPr>
          <a:lstStyle/>
          <a:p>
            <a:pPr>
              <a:defRPr sz="1500" b="1">
                <a:solidFill>
                  <a:srgbClr val="0B1D3A"/>
                </a:solidFill>
              </a:defRPr>
            </a:pPr>
            <a:r>
              <a:rPr dirty="0"/>
              <a:t>Operational Insights &amp; Matrix Strategy</a:t>
            </a:r>
          </a:p>
          <a:p>
            <a:br>
              <a:rPr dirty="0"/>
            </a:br>
            <a:r>
              <a:rPr dirty="0"/>
              <a:t>• Exceptional Risk Coverage: Caught 2</a:t>
            </a:r>
            <a:r>
              <a:rPr lang="en-US" dirty="0"/>
              <a:t>7</a:t>
            </a:r>
            <a:r>
              <a:rPr dirty="0"/>
              <a:t> out of 28 total departures, achieving an exceptional 96.4% sensitivity metrics score.</a:t>
            </a:r>
            <a:br>
              <a:rPr dirty="0"/>
            </a:br>
            <a:r>
              <a:rPr dirty="0"/>
              <a:t>• Strategic Safety Net: The model intentionally casts a wide net (104 false alarms). The minimal $200 prevention cost is vastly offset by securing critical personnel.</a:t>
            </a:r>
          </a:p>
        </p:txBody>
      </p:sp>
      <p:sp>
        <p:nvSpPr>
          <p:cNvPr id="7" name="TextBox 6">
            <a:extLst>
              <a:ext uri="{FF2B5EF4-FFF2-40B4-BE49-F238E27FC236}">
                <a16:creationId xmlns:a16="http://schemas.microsoft.com/office/drawing/2014/main" id="{9490B4FA-FAF0-4E74-4CBB-DAB1CB64EC07}"/>
              </a:ext>
            </a:extLst>
          </p:cNvPr>
          <p:cNvSpPr txBox="1"/>
          <p:nvPr/>
        </p:nvSpPr>
        <p:spPr>
          <a:xfrm>
            <a:off x="0" y="6460607"/>
            <a:ext cx="5636435" cy="400110"/>
          </a:xfrm>
          <a:prstGeom prst="rect">
            <a:avLst/>
          </a:prstGeom>
          <a:noFill/>
        </p:spPr>
        <p:txBody>
          <a:bodyPr wrap="square" rtlCol="0">
            <a:spAutoFit/>
          </a:bodyPr>
          <a:lstStyle/>
          <a:p>
            <a:pPr>
              <a:defRPr sz="4000" b="1">
                <a:solidFill>
                  <a:srgbClr val="FFFFFF"/>
                </a:solidFill>
              </a:defRPr>
            </a:pPr>
            <a:r>
              <a:rPr lang="en-US" sz="2000" dirty="0">
                <a:solidFill>
                  <a:schemeClr val="tx2"/>
                </a:solidFill>
              </a:rPr>
              <a:t>DDSAnalytics Talent Management Solutions</a:t>
            </a:r>
          </a:p>
        </p:txBody>
      </p:sp>
      <p:sp>
        <p:nvSpPr>
          <p:cNvPr id="9" name="Slide Number Placeholder 12">
            <a:extLst>
              <a:ext uri="{FF2B5EF4-FFF2-40B4-BE49-F238E27FC236}">
                <a16:creationId xmlns:a16="http://schemas.microsoft.com/office/drawing/2014/main" id="{63415C00-0741-AE11-0F8C-B9A471027608}"/>
              </a:ext>
            </a:extLst>
          </p:cNvPr>
          <p:cNvSpPr txBox="1">
            <a:spLocks/>
          </p:cNvSpPr>
          <p:nvPr/>
        </p:nvSpPr>
        <p:spPr>
          <a:xfrm>
            <a:off x="10058400" y="6495592"/>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tx1"/>
                </a:solidFill>
              </a:rPr>
              <a:t>Slide </a:t>
            </a:r>
            <a:fld id="{C1FF6DA9-008F-8B48-92A6-B652298478BF}" type="slidenum">
              <a:rPr lang="en-US" smtClean="0">
                <a:solidFill>
                  <a:schemeClr val="tx1"/>
                </a:solidFill>
              </a:rPr>
              <a:pPr/>
              <a:t>5</a:t>
            </a:fld>
            <a:endParaRPr lang="en-US"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50205"/>
    </mc:Choice>
    <mc:Fallback xmlns="">
      <p:transition spd="slow" advTm="5020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457200"/>
            <a:ext cx="6852132" cy="769441"/>
          </a:xfrm>
          <a:prstGeom prst="rect">
            <a:avLst/>
          </a:prstGeom>
          <a:noFill/>
        </p:spPr>
        <p:txBody>
          <a:bodyPr wrap="none">
            <a:spAutoFit/>
          </a:bodyPr>
          <a:lstStyle/>
          <a:p>
            <a:pPr>
              <a:defRPr sz="2800" b="1">
                <a:solidFill>
                  <a:srgbClr val="0B1D3A"/>
                </a:solidFill>
              </a:defRPr>
            </a:pPr>
            <a:r>
              <a:rPr dirty="0"/>
              <a:t>Hard Cost-Benefit Fiscal Ledger</a:t>
            </a:r>
          </a:p>
          <a:p>
            <a:pPr>
              <a:defRPr sz="1400">
                <a:solidFill>
                  <a:srgbClr val="646E78"/>
                </a:solidFill>
              </a:defRPr>
            </a:pPr>
            <a:r>
              <a:rPr sz="1600" dirty="0">
                <a:solidFill>
                  <a:schemeClr val="tx1">
                    <a:lumMod val="85000"/>
                    <a:lumOff val="15000"/>
                  </a:schemeClr>
                </a:solidFill>
              </a:rPr>
              <a:t>Financial Returns Accounted with Tiered Role Disruption Modifiers (50% - 400%)</a:t>
            </a:r>
          </a:p>
        </p:txBody>
      </p:sp>
      <p:sp>
        <p:nvSpPr>
          <p:cNvPr id="3" name="Rectangle 2"/>
          <p:cNvSpPr/>
          <p:nvPr/>
        </p:nvSpPr>
        <p:spPr>
          <a:xfrm>
            <a:off x="685800" y="2011679"/>
            <a:ext cx="3325546" cy="3961955"/>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103120"/>
            <a:ext cx="3108960" cy="3631763"/>
          </a:xfrm>
          <a:prstGeom prst="rect">
            <a:avLst/>
          </a:prstGeom>
          <a:noFill/>
        </p:spPr>
        <p:txBody>
          <a:bodyPr wrap="square">
            <a:spAutoFit/>
          </a:bodyPr>
          <a:lstStyle/>
          <a:p>
            <a:pPr>
              <a:defRPr sz="1400" b="1">
                <a:solidFill>
                  <a:srgbClr val="282C34"/>
                </a:solidFill>
              </a:defRPr>
            </a:pPr>
            <a:r>
              <a:rPr dirty="0"/>
              <a:t>Unmitigated Liability</a:t>
            </a:r>
          </a:p>
          <a:p>
            <a:pPr>
              <a:defRPr sz="3600" b="1">
                <a:solidFill>
                  <a:srgbClr val="D62728"/>
                </a:solidFill>
              </a:defRPr>
            </a:pPr>
            <a:r>
              <a:rPr dirty="0"/>
              <a:t>$2,</a:t>
            </a:r>
            <a:r>
              <a:rPr lang="en-US" dirty="0"/>
              <a:t>32</a:t>
            </a:r>
            <a:r>
              <a:rPr dirty="0"/>
              <a:t>0,</a:t>
            </a:r>
            <a:r>
              <a:rPr lang="en-US" dirty="0"/>
              <a:t>572</a:t>
            </a:r>
            <a:endParaRPr dirty="0"/>
          </a:p>
          <a:p>
            <a:br>
              <a:rPr dirty="0"/>
            </a:br>
            <a:r>
              <a:rPr dirty="0"/>
              <a:t>Total financial cost if NO predictive modeling is used.</a:t>
            </a:r>
            <a:br>
              <a:rPr dirty="0"/>
            </a:br>
            <a:br>
              <a:rPr dirty="0"/>
            </a:br>
            <a:r>
              <a:rPr dirty="0"/>
              <a:t>Exposes Frito-Lay to severe recruitment friction, loss of institutional knowledge, and standard operational placement fees across all 28 departing accounts.</a:t>
            </a:r>
          </a:p>
        </p:txBody>
      </p:sp>
      <p:sp>
        <p:nvSpPr>
          <p:cNvPr id="5" name="Rectangle 4"/>
          <p:cNvSpPr/>
          <p:nvPr/>
        </p:nvSpPr>
        <p:spPr>
          <a:xfrm>
            <a:off x="4403750" y="2011680"/>
            <a:ext cx="3325546" cy="3961954"/>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40910" y="2103120"/>
            <a:ext cx="3108960" cy="3631763"/>
          </a:xfrm>
          <a:prstGeom prst="rect">
            <a:avLst/>
          </a:prstGeom>
          <a:noFill/>
        </p:spPr>
        <p:txBody>
          <a:bodyPr wrap="square">
            <a:spAutoFit/>
          </a:bodyPr>
          <a:lstStyle/>
          <a:p>
            <a:pPr>
              <a:defRPr sz="1400" b="1">
                <a:solidFill>
                  <a:srgbClr val="282C34"/>
                </a:solidFill>
              </a:defRPr>
            </a:pPr>
            <a:r>
              <a:rPr dirty="0"/>
              <a:t>Managed Strategy Cost</a:t>
            </a:r>
          </a:p>
          <a:p>
            <a:pPr>
              <a:defRPr sz="3600" b="1">
                <a:solidFill>
                  <a:srgbClr val="282C34"/>
                </a:solidFill>
              </a:defRPr>
            </a:pPr>
            <a:r>
              <a:rPr dirty="0"/>
              <a:t>$1,</a:t>
            </a:r>
            <a:r>
              <a:rPr lang="en-US" dirty="0"/>
              <a:t>799</a:t>
            </a:r>
            <a:r>
              <a:rPr dirty="0"/>
              <a:t>,</a:t>
            </a:r>
            <a:r>
              <a:rPr lang="en-US" dirty="0"/>
              <a:t>567</a:t>
            </a:r>
            <a:endParaRPr dirty="0"/>
          </a:p>
          <a:p>
            <a:br>
              <a:rPr dirty="0"/>
            </a:br>
            <a:r>
              <a:rPr dirty="0"/>
              <a:t>Total running cost of the active program infrastructure.</a:t>
            </a:r>
            <a:br>
              <a:rPr dirty="0"/>
            </a:br>
            <a:br>
              <a:rPr dirty="0"/>
            </a:br>
            <a:r>
              <a:rPr dirty="0"/>
              <a:t>Includes $26,200 in program intervention budgets spent plus remaining unrecovered role costs based on a conservative 40% retention program success rate.</a:t>
            </a:r>
          </a:p>
        </p:txBody>
      </p:sp>
      <p:sp>
        <p:nvSpPr>
          <p:cNvPr id="7" name="Rectangle 6"/>
          <p:cNvSpPr/>
          <p:nvPr/>
        </p:nvSpPr>
        <p:spPr>
          <a:xfrm>
            <a:off x="8122615" y="2011680"/>
            <a:ext cx="3325546" cy="3961954"/>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59775" y="2103120"/>
            <a:ext cx="3108960" cy="3631763"/>
          </a:xfrm>
          <a:prstGeom prst="rect">
            <a:avLst/>
          </a:prstGeom>
          <a:noFill/>
        </p:spPr>
        <p:txBody>
          <a:bodyPr wrap="square">
            <a:spAutoFit/>
          </a:bodyPr>
          <a:lstStyle/>
          <a:p>
            <a:pPr>
              <a:defRPr sz="1400" b="1">
                <a:solidFill>
                  <a:srgbClr val="282C34"/>
                </a:solidFill>
              </a:defRPr>
            </a:pPr>
            <a:r>
              <a:rPr dirty="0"/>
              <a:t>NET SAVINGS YIELD</a:t>
            </a:r>
          </a:p>
          <a:p>
            <a:pPr>
              <a:defRPr sz="3600" b="1">
                <a:solidFill>
                  <a:srgbClr val="2CA02C"/>
                </a:solidFill>
              </a:defRPr>
            </a:pPr>
            <a:r>
              <a:rPr dirty="0"/>
              <a:t>$</a:t>
            </a:r>
            <a:r>
              <a:rPr lang="en-US" dirty="0"/>
              <a:t>521</a:t>
            </a:r>
            <a:r>
              <a:rPr dirty="0"/>
              <a:t>,</a:t>
            </a:r>
            <a:r>
              <a:rPr lang="en-US" dirty="0"/>
              <a:t>005</a:t>
            </a:r>
            <a:endParaRPr dirty="0"/>
          </a:p>
          <a:p>
            <a:br>
              <a:rPr dirty="0"/>
            </a:br>
            <a:r>
              <a:rPr dirty="0"/>
              <a:t>Pure financial capital preserved by the enterprise.</a:t>
            </a:r>
            <a:br>
              <a:rPr dirty="0"/>
            </a:br>
            <a:br>
              <a:rPr dirty="0"/>
            </a:br>
            <a:r>
              <a:rPr dirty="0"/>
              <a:t>Demonstrates absolute validation of the optimization loop. Mitigates critical human capital risks while delivering highly visible corporate returns.</a:t>
            </a:r>
          </a:p>
        </p:txBody>
      </p:sp>
      <p:sp>
        <p:nvSpPr>
          <p:cNvPr id="10" name="TextBox 9">
            <a:extLst>
              <a:ext uri="{FF2B5EF4-FFF2-40B4-BE49-F238E27FC236}">
                <a16:creationId xmlns:a16="http://schemas.microsoft.com/office/drawing/2014/main" id="{85FB8E1C-8C1A-10F8-9FA0-E84BC5FF71D0}"/>
              </a:ext>
            </a:extLst>
          </p:cNvPr>
          <p:cNvSpPr txBox="1"/>
          <p:nvPr/>
        </p:nvSpPr>
        <p:spPr>
          <a:xfrm>
            <a:off x="0" y="6460607"/>
            <a:ext cx="5636435" cy="400110"/>
          </a:xfrm>
          <a:prstGeom prst="rect">
            <a:avLst/>
          </a:prstGeom>
          <a:noFill/>
        </p:spPr>
        <p:txBody>
          <a:bodyPr wrap="square" rtlCol="0">
            <a:spAutoFit/>
          </a:bodyPr>
          <a:lstStyle/>
          <a:p>
            <a:pPr>
              <a:defRPr sz="4000" b="1">
                <a:solidFill>
                  <a:srgbClr val="FFFFFF"/>
                </a:solidFill>
              </a:defRPr>
            </a:pPr>
            <a:r>
              <a:rPr lang="en-US" sz="2000" dirty="0">
                <a:solidFill>
                  <a:schemeClr val="tx2"/>
                </a:solidFill>
              </a:rPr>
              <a:t>DDSAnalytics Talent Management Solutions</a:t>
            </a:r>
          </a:p>
        </p:txBody>
      </p:sp>
      <p:sp>
        <p:nvSpPr>
          <p:cNvPr id="11" name="Slide Number Placeholder 12">
            <a:extLst>
              <a:ext uri="{FF2B5EF4-FFF2-40B4-BE49-F238E27FC236}">
                <a16:creationId xmlns:a16="http://schemas.microsoft.com/office/drawing/2014/main" id="{E63C07CC-D006-9026-A29F-51B7590B2AF7}"/>
              </a:ext>
            </a:extLst>
          </p:cNvPr>
          <p:cNvSpPr txBox="1">
            <a:spLocks/>
          </p:cNvSpPr>
          <p:nvPr/>
        </p:nvSpPr>
        <p:spPr>
          <a:xfrm>
            <a:off x="10058400" y="6495592"/>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tx1"/>
                </a:solidFill>
              </a:rPr>
              <a:t>Slide </a:t>
            </a:r>
            <a:fld id="{C1FF6DA9-008F-8B48-92A6-B652298478BF}" type="slidenum">
              <a:rPr lang="en-US" smtClean="0">
                <a:solidFill>
                  <a:schemeClr val="tx1"/>
                </a:solidFill>
              </a:rPr>
              <a:pPr/>
              <a:t>6</a:t>
            </a:fld>
            <a:endParaRPr lang="en-US" dirty="0">
              <a:solidFill>
                <a:schemeClr val="tx1"/>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1333"/>
    </mc:Choice>
    <mc:Fallback xmlns="">
      <p:transition spd="slow" advTm="513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p:bldP spid="7" grpId="0" animBg="1"/>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457200"/>
            <a:ext cx="10820095" cy="769441"/>
          </a:xfrm>
          <a:prstGeom prst="rect">
            <a:avLst/>
          </a:prstGeom>
          <a:noFill/>
        </p:spPr>
        <p:txBody>
          <a:bodyPr wrap="square">
            <a:spAutoFit/>
          </a:bodyPr>
          <a:lstStyle/>
          <a:p>
            <a:pPr>
              <a:defRPr sz="2800" b="1">
                <a:solidFill>
                  <a:srgbClr val="0B1D3A"/>
                </a:solidFill>
              </a:defRPr>
            </a:pPr>
            <a:r>
              <a:rPr dirty="0"/>
              <a:t>Enterprise Deployment Roadmap</a:t>
            </a:r>
          </a:p>
          <a:p>
            <a:pPr>
              <a:defRPr sz="1400">
                <a:solidFill>
                  <a:srgbClr val="646E78"/>
                </a:solidFill>
              </a:defRPr>
            </a:pPr>
            <a:r>
              <a:rPr sz="1600" dirty="0">
                <a:solidFill>
                  <a:schemeClr val="tx1">
                    <a:lumMod val="85000"/>
                    <a:lumOff val="15000"/>
                  </a:schemeClr>
                </a:solidFill>
              </a:rPr>
              <a:t>Immediate Operational Steps Towards Organizational Rollout</a:t>
            </a:r>
          </a:p>
        </p:txBody>
      </p:sp>
      <p:sp>
        <p:nvSpPr>
          <p:cNvPr id="3" name="Rectangle 2"/>
          <p:cNvSpPr/>
          <p:nvPr/>
        </p:nvSpPr>
        <p:spPr>
          <a:xfrm>
            <a:off x="685800" y="2011680"/>
            <a:ext cx="3383280" cy="3474720"/>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103120"/>
            <a:ext cx="3108960" cy="3200400"/>
          </a:xfrm>
          <a:prstGeom prst="rect">
            <a:avLst/>
          </a:prstGeom>
          <a:noFill/>
        </p:spPr>
        <p:txBody>
          <a:bodyPr wrap="square">
            <a:spAutoFit/>
          </a:bodyPr>
          <a:lstStyle/>
          <a:p>
            <a:pPr>
              <a:defRPr sz="1600" b="1">
                <a:solidFill>
                  <a:srgbClr val="0B1D3A"/>
                </a:solidFill>
              </a:defRPr>
            </a:pPr>
            <a:r>
              <a:t>Phase 1</a:t>
            </a:r>
            <a:br/>
            <a:r>
              <a:t>Core System Ingestion</a:t>
            </a:r>
          </a:p>
          <a:p>
            <a:br/>
            <a:r>
              <a:t>• Connect active HR databases directly into the analytical processing environment.</a:t>
            </a:r>
            <a:br/>
            <a:br/>
            <a:r>
              <a:t>• Standardize active tracking attributes across all geographical divisions to enable rolling calculations.</a:t>
            </a:r>
          </a:p>
        </p:txBody>
      </p:sp>
      <p:sp>
        <p:nvSpPr>
          <p:cNvPr id="5" name="Rectangle 4"/>
          <p:cNvSpPr/>
          <p:nvPr/>
        </p:nvSpPr>
        <p:spPr>
          <a:xfrm>
            <a:off x="4403750" y="2011680"/>
            <a:ext cx="3383280" cy="3474720"/>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40910" y="2103120"/>
            <a:ext cx="3108960" cy="3200400"/>
          </a:xfrm>
          <a:prstGeom prst="rect">
            <a:avLst/>
          </a:prstGeom>
          <a:noFill/>
        </p:spPr>
        <p:txBody>
          <a:bodyPr wrap="square">
            <a:spAutoFit/>
          </a:bodyPr>
          <a:lstStyle/>
          <a:p>
            <a:pPr>
              <a:defRPr sz="1600" b="1">
                <a:solidFill>
                  <a:srgbClr val="0B1D3A"/>
                </a:solidFill>
              </a:defRPr>
            </a:pPr>
            <a:r>
              <a:rPr dirty="0"/>
              <a:t>Phase 2</a:t>
            </a:r>
            <a:br>
              <a:rPr dirty="0"/>
            </a:br>
            <a:r>
              <a:rPr dirty="0"/>
              <a:t>Targeted Pilot Launch</a:t>
            </a:r>
          </a:p>
          <a:p>
            <a:br>
              <a:rPr dirty="0"/>
            </a:br>
            <a:r>
              <a:rPr dirty="0"/>
              <a:t>• Deploy immediate alert workflows to localized manager classes within high-risk teams.</a:t>
            </a:r>
            <a:br>
              <a:rPr dirty="0"/>
            </a:br>
            <a:br>
              <a:rPr dirty="0"/>
            </a:br>
            <a:r>
              <a:rPr dirty="0"/>
              <a:t>• Prioritize execution tracking specifically to Sales structures and critical Laboratory sectors.</a:t>
            </a:r>
          </a:p>
        </p:txBody>
      </p:sp>
      <p:sp>
        <p:nvSpPr>
          <p:cNvPr id="7" name="Rectangle 6"/>
          <p:cNvSpPr/>
          <p:nvPr/>
        </p:nvSpPr>
        <p:spPr>
          <a:xfrm>
            <a:off x="8122615" y="2011680"/>
            <a:ext cx="3383280" cy="3474720"/>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59775" y="2103120"/>
            <a:ext cx="3108960" cy="3200400"/>
          </a:xfrm>
          <a:prstGeom prst="rect">
            <a:avLst/>
          </a:prstGeom>
          <a:noFill/>
        </p:spPr>
        <p:txBody>
          <a:bodyPr wrap="square">
            <a:spAutoFit/>
          </a:bodyPr>
          <a:lstStyle/>
          <a:p>
            <a:pPr>
              <a:defRPr sz="1600" b="1">
                <a:solidFill>
                  <a:srgbClr val="0B1D3A"/>
                </a:solidFill>
              </a:defRPr>
            </a:pPr>
            <a:r>
              <a:rPr dirty="0"/>
              <a:t>Phase 3</a:t>
            </a:r>
            <a:br>
              <a:rPr dirty="0"/>
            </a:br>
            <a:r>
              <a:rPr dirty="0"/>
              <a:t>Live Monitoring Suite</a:t>
            </a:r>
          </a:p>
          <a:p>
            <a:br>
              <a:rPr dirty="0"/>
            </a:br>
            <a:r>
              <a:rPr dirty="0"/>
              <a:t>• Automate corporate metric scorecards tracking dynamic performance levels over time.</a:t>
            </a:r>
            <a:br>
              <a:rPr dirty="0"/>
            </a:br>
            <a:br>
              <a:rPr dirty="0"/>
            </a:br>
            <a:r>
              <a:rPr dirty="0"/>
              <a:t>• Provide ongoing visual reporting audits updating continuous programmatic net savings profiles directly to executive leadership.</a:t>
            </a:r>
          </a:p>
        </p:txBody>
      </p:sp>
      <p:sp>
        <p:nvSpPr>
          <p:cNvPr id="10" name="TextBox 9">
            <a:extLst>
              <a:ext uri="{FF2B5EF4-FFF2-40B4-BE49-F238E27FC236}">
                <a16:creationId xmlns:a16="http://schemas.microsoft.com/office/drawing/2014/main" id="{6BF579FC-E8F9-924A-7A88-21E36B5054E3}"/>
              </a:ext>
            </a:extLst>
          </p:cNvPr>
          <p:cNvSpPr txBox="1"/>
          <p:nvPr/>
        </p:nvSpPr>
        <p:spPr>
          <a:xfrm>
            <a:off x="0" y="6460607"/>
            <a:ext cx="5636435" cy="400110"/>
          </a:xfrm>
          <a:prstGeom prst="rect">
            <a:avLst/>
          </a:prstGeom>
          <a:noFill/>
        </p:spPr>
        <p:txBody>
          <a:bodyPr wrap="square" rtlCol="0">
            <a:spAutoFit/>
          </a:bodyPr>
          <a:lstStyle/>
          <a:p>
            <a:pPr>
              <a:defRPr sz="4000" b="1">
                <a:solidFill>
                  <a:srgbClr val="FFFFFF"/>
                </a:solidFill>
              </a:defRPr>
            </a:pPr>
            <a:r>
              <a:rPr lang="en-US" sz="2000" dirty="0">
                <a:solidFill>
                  <a:schemeClr val="tx2"/>
                </a:solidFill>
              </a:rPr>
              <a:t>DDSAnalytics Talent Management Solutions</a:t>
            </a:r>
          </a:p>
        </p:txBody>
      </p:sp>
      <p:sp>
        <p:nvSpPr>
          <p:cNvPr id="11" name="Slide Number Placeholder 12">
            <a:extLst>
              <a:ext uri="{FF2B5EF4-FFF2-40B4-BE49-F238E27FC236}">
                <a16:creationId xmlns:a16="http://schemas.microsoft.com/office/drawing/2014/main" id="{BE50CBD4-12D9-15CC-DC1C-4202DAC903BA}"/>
              </a:ext>
            </a:extLst>
          </p:cNvPr>
          <p:cNvSpPr txBox="1">
            <a:spLocks/>
          </p:cNvSpPr>
          <p:nvPr/>
        </p:nvSpPr>
        <p:spPr>
          <a:xfrm>
            <a:off x="10058400" y="6495592"/>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tx1"/>
                </a:solidFill>
              </a:rPr>
              <a:t>Slide </a:t>
            </a:r>
            <a:fld id="{C1FF6DA9-008F-8B48-92A6-B652298478BF}" type="slidenum">
              <a:rPr lang="en-US" smtClean="0">
                <a:solidFill>
                  <a:schemeClr val="tx1"/>
                </a:solidFill>
              </a:rPr>
              <a:pPr/>
              <a:t>7</a:t>
            </a:fld>
            <a:endParaRPr lang="en-US" dirty="0">
              <a:solidFill>
                <a:schemeClr val="tx1"/>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8818"/>
    </mc:Choice>
    <mc:Fallback xmlns="">
      <p:transition spd="slow" advTm="388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p:bldP spid="7" grpId="0" animBg="1"/>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04787-9950-5270-ABB5-124FD110184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D7633E6-155A-F172-0529-2518672F9F23}"/>
              </a:ext>
            </a:extLst>
          </p:cNvPr>
          <p:cNvSpPr txBox="1"/>
          <p:nvPr/>
        </p:nvSpPr>
        <p:spPr>
          <a:xfrm>
            <a:off x="685800" y="457200"/>
            <a:ext cx="10820095" cy="523220"/>
          </a:xfrm>
          <a:prstGeom prst="rect">
            <a:avLst/>
          </a:prstGeom>
          <a:noFill/>
        </p:spPr>
        <p:txBody>
          <a:bodyPr wrap="square">
            <a:spAutoFit/>
          </a:bodyPr>
          <a:lstStyle/>
          <a:p>
            <a:pPr>
              <a:defRPr sz="2800" b="1">
                <a:solidFill>
                  <a:srgbClr val="0B1D3A"/>
                </a:solidFill>
              </a:defRPr>
            </a:pPr>
            <a:r>
              <a:rPr lang="en-US" dirty="0"/>
              <a:t>Data Visualization</a:t>
            </a:r>
            <a:endParaRPr dirty="0"/>
          </a:p>
        </p:txBody>
      </p:sp>
      <p:pic>
        <p:nvPicPr>
          <p:cNvPr id="11" name="Picture 10">
            <a:extLst>
              <a:ext uri="{FF2B5EF4-FFF2-40B4-BE49-F238E27FC236}">
                <a16:creationId xmlns:a16="http://schemas.microsoft.com/office/drawing/2014/main" id="{B8F520BD-A814-8C40-DE51-7CD0611EF0E8}"/>
              </a:ext>
            </a:extLst>
          </p:cNvPr>
          <p:cNvPicPr>
            <a:picLocks noChangeAspect="1"/>
          </p:cNvPicPr>
          <p:nvPr/>
        </p:nvPicPr>
        <p:blipFill>
          <a:blip r:embed="rId2"/>
          <a:stretch>
            <a:fillRect/>
          </a:stretch>
        </p:blipFill>
        <p:spPr>
          <a:xfrm>
            <a:off x="1889148" y="1040490"/>
            <a:ext cx="8413398" cy="5473776"/>
          </a:xfrm>
          <a:prstGeom prst="rect">
            <a:avLst/>
          </a:prstGeom>
        </p:spPr>
      </p:pic>
      <p:sp>
        <p:nvSpPr>
          <p:cNvPr id="12" name="TextBox 11">
            <a:extLst>
              <a:ext uri="{FF2B5EF4-FFF2-40B4-BE49-F238E27FC236}">
                <a16:creationId xmlns:a16="http://schemas.microsoft.com/office/drawing/2014/main" id="{AA896C70-71CE-B005-8D78-D87322A65038}"/>
              </a:ext>
            </a:extLst>
          </p:cNvPr>
          <p:cNvSpPr txBox="1"/>
          <p:nvPr/>
        </p:nvSpPr>
        <p:spPr>
          <a:xfrm>
            <a:off x="0" y="6460607"/>
            <a:ext cx="5636435" cy="400110"/>
          </a:xfrm>
          <a:prstGeom prst="rect">
            <a:avLst/>
          </a:prstGeom>
          <a:noFill/>
        </p:spPr>
        <p:txBody>
          <a:bodyPr wrap="square" rtlCol="0">
            <a:spAutoFit/>
          </a:bodyPr>
          <a:lstStyle/>
          <a:p>
            <a:pPr>
              <a:defRPr sz="4000" b="1">
                <a:solidFill>
                  <a:srgbClr val="FFFFFF"/>
                </a:solidFill>
              </a:defRPr>
            </a:pPr>
            <a:r>
              <a:rPr lang="en-US" sz="2000" dirty="0">
                <a:solidFill>
                  <a:schemeClr val="tx2"/>
                </a:solidFill>
              </a:rPr>
              <a:t>DDSAnalytics Talent Management Solutions</a:t>
            </a:r>
          </a:p>
        </p:txBody>
      </p:sp>
      <p:sp>
        <p:nvSpPr>
          <p:cNvPr id="13" name="Slide Number Placeholder 12">
            <a:extLst>
              <a:ext uri="{FF2B5EF4-FFF2-40B4-BE49-F238E27FC236}">
                <a16:creationId xmlns:a16="http://schemas.microsoft.com/office/drawing/2014/main" id="{1FB1BDCE-614A-B1C4-05DA-33DC49E56565}"/>
              </a:ext>
            </a:extLst>
          </p:cNvPr>
          <p:cNvSpPr txBox="1">
            <a:spLocks/>
          </p:cNvSpPr>
          <p:nvPr/>
        </p:nvSpPr>
        <p:spPr>
          <a:xfrm>
            <a:off x="10058400" y="6495592"/>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tx1"/>
                </a:solidFill>
              </a:rPr>
              <a:t>Slide </a:t>
            </a:r>
            <a:fld id="{C1FF6DA9-008F-8B48-92A6-B652298478BF}" type="slidenum">
              <a:rPr lang="en-US" smtClean="0">
                <a:solidFill>
                  <a:schemeClr val="tx1"/>
                </a:solidFill>
              </a:rPr>
              <a:pPr/>
              <a:t>8</a:t>
            </a:fld>
            <a:endParaRPr lang="en-US" dirty="0">
              <a:solidFill>
                <a:schemeClr val="tx1"/>
              </a:solidFill>
            </a:endParaRPr>
          </a:p>
        </p:txBody>
      </p:sp>
    </p:spTree>
    <p:extLst>
      <p:ext uri="{BB962C8B-B14F-4D97-AF65-F5344CB8AC3E}">
        <p14:creationId xmlns:p14="http://schemas.microsoft.com/office/powerpoint/2010/main" val="2801169024"/>
      </p:ext>
    </p:extLst>
  </p:cSld>
  <p:clrMapOvr>
    <a:masterClrMapping/>
  </p:clrMapOvr>
  <mc:AlternateContent xmlns:mc="http://schemas.openxmlformats.org/markup-compatibility/2006" xmlns:p14="http://schemas.microsoft.com/office/powerpoint/2010/main">
    <mc:Choice Requires="p14">
      <p:transition spd="slow" p14:dur="2000" advTm="35327"/>
    </mc:Choice>
    <mc:Fallback xmlns="">
      <p:transition spd="slow" advTm="3532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A5264-1200-1F5D-E249-E0765C9E8D5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C3DC437-F590-1DFA-119F-6F404D9FFB83}"/>
              </a:ext>
            </a:extLst>
          </p:cNvPr>
          <p:cNvSpPr txBox="1"/>
          <p:nvPr/>
        </p:nvSpPr>
        <p:spPr>
          <a:xfrm>
            <a:off x="685800" y="457200"/>
            <a:ext cx="10820095" cy="523220"/>
          </a:xfrm>
          <a:prstGeom prst="rect">
            <a:avLst/>
          </a:prstGeom>
          <a:noFill/>
        </p:spPr>
        <p:txBody>
          <a:bodyPr wrap="square">
            <a:spAutoFit/>
          </a:bodyPr>
          <a:lstStyle/>
          <a:p>
            <a:pPr>
              <a:defRPr sz="2800" b="1">
                <a:solidFill>
                  <a:srgbClr val="0B1D3A"/>
                </a:solidFill>
              </a:defRPr>
            </a:pPr>
            <a:r>
              <a:rPr lang="en-US" dirty="0"/>
              <a:t>Data Visualization</a:t>
            </a:r>
            <a:endParaRPr dirty="0"/>
          </a:p>
        </p:txBody>
      </p:sp>
      <p:pic>
        <p:nvPicPr>
          <p:cNvPr id="4" name="Picture 3">
            <a:extLst>
              <a:ext uri="{FF2B5EF4-FFF2-40B4-BE49-F238E27FC236}">
                <a16:creationId xmlns:a16="http://schemas.microsoft.com/office/drawing/2014/main" id="{52535F09-9D1D-8726-DE37-027BF77547E1}"/>
              </a:ext>
            </a:extLst>
          </p:cNvPr>
          <p:cNvPicPr>
            <a:picLocks noChangeAspect="1"/>
          </p:cNvPicPr>
          <p:nvPr/>
        </p:nvPicPr>
        <p:blipFill>
          <a:blip r:embed="rId2"/>
          <a:stretch>
            <a:fillRect/>
          </a:stretch>
        </p:blipFill>
        <p:spPr>
          <a:xfrm>
            <a:off x="2088214" y="980420"/>
            <a:ext cx="8015572" cy="5566702"/>
          </a:xfrm>
          <a:prstGeom prst="rect">
            <a:avLst/>
          </a:prstGeom>
        </p:spPr>
      </p:pic>
      <p:sp>
        <p:nvSpPr>
          <p:cNvPr id="5" name="TextBox 4">
            <a:extLst>
              <a:ext uri="{FF2B5EF4-FFF2-40B4-BE49-F238E27FC236}">
                <a16:creationId xmlns:a16="http://schemas.microsoft.com/office/drawing/2014/main" id="{EF319CCB-E8A3-9676-4D6E-1354631611D8}"/>
              </a:ext>
            </a:extLst>
          </p:cNvPr>
          <p:cNvSpPr txBox="1"/>
          <p:nvPr/>
        </p:nvSpPr>
        <p:spPr>
          <a:xfrm>
            <a:off x="0" y="6460607"/>
            <a:ext cx="5636435" cy="400110"/>
          </a:xfrm>
          <a:prstGeom prst="rect">
            <a:avLst/>
          </a:prstGeom>
          <a:noFill/>
        </p:spPr>
        <p:txBody>
          <a:bodyPr wrap="square" rtlCol="0">
            <a:spAutoFit/>
          </a:bodyPr>
          <a:lstStyle/>
          <a:p>
            <a:pPr>
              <a:defRPr sz="4000" b="1">
                <a:solidFill>
                  <a:srgbClr val="FFFFFF"/>
                </a:solidFill>
              </a:defRPr>
            </a:pPr>
            <a:r>
              <a:rPr lang="en-US" sz="2000" dirty="0">
                <a:solidFill>
                  <a:schemeClr val="tx2"/>
                </a:solidFill>
              </a:rPr>
              <a:t>DDSAnalytics Talent Management Solutions</a:t>
            </a:r>
          </a:p>
        </p:txBody>
      </p:sp>
      <p:sp>
        <p:nvSpPr>
          <p:cNvPr id="6" name="Slide Number Placeholder 12">
            <a:extLst>
              <a:ext uri="{FF2B5EF4-FFF2-40B4-BE49-F238E27FC236}">
                <a16:creationId xmlns:a16="http://schemas.microsoft.com/office/drawing/2014/main" id="{8BF72054-C14C-5B85-6FAB-B1E60E5B8061}"/>
              </a:ext>
            </a:extLst>
          </p:cNvPr>
          <p:cNvSpPr txBox="1">
            <a:spLocks/>
          </p:cNvSpPr>
          <p:nvPr/>
        </p:nvSpPr>
        <p:spPr>
          <a:xfrm>
            <a:off x="10058400" y="6495592"/>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tx1"/>
                </a:solidFill>
              </a:rPr>
              <a:t>Slide </a:t>
            </a:r>
            <a:fld id="{C1FF6DA9-008F-8B48-92A6-B652298478BF}" type="slidenum">
              <a:rPr lang="en-US" smtClean="0">
                <a:solidFill>
                  <a:schemeClr val="tx1"/>
                </a:solidFill>
              </a:rPr>
              <a:pPr/>
              <a:t>9</a:t>
            </a:fld>
            <a:endParaRPr lang="en-US" dirty="0">
              <a:solidFill>
                <a:schemeClr val="tx1"/>
              </a:solidFill>
            </a:endParaRPr>
          </a:p>
        </p:txBody>
      </p:sp>
    </p:spTree>
    <p:extLst>
      <p:ext uri="{BB962C8B-B14F-4D97-AF65-F5344CB8AC3E}">
        <p14:creationId xmlns:p14="http://schemas.microsoft.com/office/powerpoint/2010/main" val="1886991181"/>
      </p:ext>
    </p:extLst>
  </p:cSld>
  <p:clrMapOvr>
    <a:masterClrMapping/>
  </p:clrMapOvr>
  <mc:AlternateContent xmlns:mc="http://schemas.openxmlformats.org/markup-compatibility/2006" xmlns:p14="http://schemas.microsoft.com/office/powerpoint/2010/main">
    <mc:Choice Requires="p14">
      <p:transition spd="slow" p14:dur="2000" advTm="6646"/>
    </mc:Choice>
    <mc:Fallback xmlns="">
      <p:transition spd="slow" advTm="664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7622C-2EBD-8FC1-30F7-FDFC3D3AA99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30FD568-9EF0-5A0A-D480-23964B6C8E75}"/>
              </a:ext>
            </a:extLst>
          </p:cNvPr>
          <p:cNvSpPr txBox="1"/>
          <p:nvPr/>
        </p:nvSpPr>
        <p:spPr>
          <a:xfrm>
            <a:off x="685800" y="457200"/>
            <a:ext cx="10820095" cy="523220"/>
          </a:xfrm>
          <a:prstGeom prst="rect">
            <a:avLst/>
          </a:prstGeom>
          <a:noFill/>
        </p:spPr>
        <p:txBody>
          <a:bodyPr wrap="square">
            <a:spAutoFit/>
          </a:bodyPr>
          <a:lstStyle/>
          <a:p>
            <a:pPr>
              <a:defRPr sz="2800" b="1">
                <a:solidFill>
                  <a:srgbClr val="0B1D3A"/>
                </a:solidFill>
              </a:defRPr>
            </a:pPr>
            <a:r>
              <a:rPr lang="en-US" dirty="0"/>
              <a:t>Data Visualization</a:t>
            </a:r>
            <a:endParaRPr dirty="0"/>
          </a:p>
        </p:txBody>
      </p:sp>
      <p:pic>
        <p:nvPicPr>
          <p:cNvPr id="4" name="Picture 3">
            <a:extLst>
              <a:ext uri="{FF2B5EF4-FFF2-40B4-BE49-F238E27FC236}">
                <a16:creationId xmlns:a16="http://schemas.microsoft.com/office/drawing/2014/main" id="{A834ADA5-5C8F-E772-D046-16EED18E60C2}"/>
              </a:ext>
            </a:extLst>
          </p:cNvPr>
          <p:cNvPicPr>
            <a:picLocks noChangeAspect="1"/>
          </p:cNvPicPr>
          <p:nvPr/>
        </p:nvPicPr>
        <p:blipFill>
          <a:blip r:embed="rId2"/>
          <a:stretch>
            <a:fillRect/>
          </a:stretch>
        </p:blipFill>
        <p:spPr>
          <a:xfrm>
            <a:off x="2414609" y="980420"/>
            <a:ext cx="7362781" cy="5573133"/>
          </a:xfrm>
          <a:prstGeom prst="rect">
            <a:avLst/>
          </a:prstGeom>
        </p:spPr>
      </p:pic>
      <p:sp>
        <p:nvSpPr>
          <p:cNvPr id="5" name="TextBox 4">
            <a:extLst>
              <a:ext uri="{FF2B5EF4-FFF2-40B4-BE49-F238E27FC236}">
                <a16:creationId xmlns:a16="http://schemas.microsoft.com/office/drawing/2014/main" id="{7EBD20AD-B546-9DBD-EC8C-3C35997A980E}"/>
              </a:ext>
            </a:extLst>
          </p:cNvPr>
          <p:cNvSpPr txBox="1"/>
          <p:nvPr/>
        </p:nvSpPr>
        <p:spPr>
          <a:xfrm>
            <a:off x="0" y="6460607"/>
            <a:ext cx="5636435" cy="400110"/>
          </a:xfrm>
          <a:prstGeom prst="rect">
            <a:avLst/>
          </a:prstGeom>
          <a:noFill/>
        </p:spPr>
        <p:txBody>
          <a:bodyPr wrap="square" rtlCol="0">
            <a:spAutoFit/>
          </a:bodyPr>
          <a:lstStyle/>
          <a:p>
            <a:pPr>
              <a:defRPr sz="4000" b="1">
                <a:solidFill>
                  <a:srgbClr val="FFFFFF"/>
                </a:solidFill>
              </a:defRPr>
            </a:pPr>
            <a:r>
              <a:rPr lang="en-US" sz="2000" dirty="0">
                <a:solidFill>
                  <a:schemeClr val="tx2"/>
                </a:solidFill>
              </a:rPr>
              <a:t>DDSAnalytics Talent Management Solutions</a:t>
            </a:r>
          </a:p>
        </p:txBody>
      </p:sp>
      <p:sp>
        <p:nvSpPr>
          <p:cNvPr id="6" name="Slide Number Placeholder 12">
            <a:extLst>
              <a:ext uri="{FF2B5EF4-FFF2-40B4-BE49-F238E27FC236}">
                <a16:creationId xmlns:a16="http://schemas.microsoft.com/office/drawing/2014/main" id="{C2BA55A5-6791-FE0B-2F33-A8962FAAFE5C}"/>
              </a:ext>
            </a:extLst>
          </p:cNvPr>
          <p:cNvSpPr txBox="1">
            <a:spLocks/>
          </p:cNvSpPr>
          <p:nvPr/>
        </p:nvSpPr>
        <p:spPr>
          <a:xfrm>
            <a:off x="10058400" y="6495592"/>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tx1"/>
                </a:solidFill>
              </a:rPr>
              <a:t>Slide </a:t>
            </a:r>
            <a:fld id="{C1FF6DA9-008F-8B48-92A6-B652298478BF}" type="slidenum">
              <a:rPr lang="en-US" smtClean="0">
                <a:solidFill>
                  <a:schemeClr val="tx1"/>
                </a:solidFill>
              </a:rPr>
              <a:pPr/>
              <a:t>10</a:t>
            </a:fld>
            <a:endParaRPr lang="en-US" dirty="0">
              <a:solidFill>
                <a:schemeClr val="tx1"/>
              </a:solidFill>
            </a:endParaRPr>
          </a:p>
        </p:txBody>
      </p:sp>
    </p:spTree>
    <p:extLst>
      <p:ext uri="{BB962C8B-B14F-4D97-AF65-F5344CB8AC3E}">
        <p14:creationId xmlns:p14="http://schemas.microsoft.com/office/powerpoint/2010/main" val="229418053"/>
      </p:ext>
    </p:extLst>
  </p:cSld>
  <p:clrMapOvr>
    <a:masterClrMapping/>
  </p:clrMapOvr>
  <mc:AlternateContent xmlns:mc="http://schemas.openxmlformats.org/markup-compatibility/2006" xmlns:p14="http://schemas.microsoft.com/office/powerpoint/2010/main">
    <mc:Choice Requires="p14">
      <p:transition spd="slow" p14:dur="2000" advTm="8357"/>
    </mc:Choice>
    <mc:Fallback xmlns="">
      <p:transition spd="slow" advTm="835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E001E-C987-4A6F-2A5F-4E9926F0B5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B4DFDC7-E9E6-5D3B-4F8D-3343D55E2F4B}"/>
              </a:ext>
            </a:extLst>
          </p:cNvPr>
          <p:cNvSpPr txBox="1"/>
          <p:nvPr/>
        </p:nvSpPr>
        <p:spPr>
          <a:xfrm>
            <a:off x="685800" y="457200"/>
            <a:ext cx="10820095" cy="523220"/>
          </a:xfrm>
          <a:prstGeom prst="rect">
            <a:avLst/>
          </a:prstGeom>
          <a:noFill/>
        </p:spPr>
        <p:txBody>
          <a:bodyPr wrap="square">
            <a:spAutoFit/>
          </a:bodyPr>
          <a:lstStyle/>
          <a:p>
            <a:pPr>
              <a:defRPr sz="2800" b="1">
                <a:solidFill>
                  <a:srgbClr val="0B1D3A"/>
                </a:solidFill>
              </a:defRPr>
            </a:pPr>
            <a:r>
              <a:rPr lang="en-US" dirty="0"/>
              <a:t>Data Visualization</a:t>
            </a:r>
            <a:endParaRPr dirty="0"/>
          </a:p>
        </p:txBody>
      </p:sp>
      <p:pic>
        <p:nvPicPr>
          <p:cNvPr id="4" name="Picture 3">
            <a:extLst>
              <a:ext uri="{FF2B5EF4-FFF2-40B4-BE49-F238E27FC236}">
                <a16:creationId xmlns:a16="http://schemas.microsoft.com/office/drawing/2014/main" id="{4BFC238C-00AD-13A0-D153-5270CEFEFF8A}"/>
              </a:ext>
            </a:extLst>
          </p:cNvPr>
          <p:cNvPicPr>
            <a:picLocks noChangeAspect="1"/>
          </p:cNvPicPr>
          <p:nvPr/>
        </p:nvPicPr>
        <p:blipFill>
          <a:blip r:embed="rId2"/>
          <a:stretch>
            <a:fillRect/>
          </a:stretch>
        </p:blipFill>
        <p:spPr>
          <a:xfrm>
            <a:off x="2356466" y="922392"/>
            <a:ext cx="7479068" cy="5687459"/>
          </a:xfrm>
          <a:prstGeom prst="rect">
            <a:avLst/>
          </a:prstGeom>
        </p:spPr>
      </p:pic>
      <p:sp>
        <p:nvSpPr>
          <p:cNvPr id="5" name="TextBox 4">
            <a:extLst>
              <a:ext uri="{FF2B5EF4-FFF2-40B4-BE49-F238E27FC236}">
                <a16:creationId xmlns:a16="http://schemas.microsoft.com/office/drawing/2014/main" id="{93CCCEEB-484B-F820-8B89-4E85F88F4AAD}"/>
              </a:ext>
            </a:extLst>
          </p:cNvPr>
          <p:cNvSpPr txBox="1"/>
          <p:nvPr/>
        </p:nvSpPr>
        <p:spPr>
          <a:xfrm>
            <a:off x="0" y="6460607"/>
            <a:ext cx="5636435" cy="400110"/>
          </a:xfrm>
          <a:prstGeom prst="rect">
            <a:avLst/>
          </a:prstGeom>
          <a:noFill/>
        </p:spPr>
        <p:txBody>
          <a:bodyPr wrap="square" rtlCol="0">
            <a:spAutoFit/>
          </a:bodyPr>
          <a:lstStyle/>
          <a:p>
            <a:pPr>
              <a:defRPr sz="4000" b="1">
                <a:solidFill>
                  <a:srgbClr val="FFFFFF"/>
                </a:solidFill>
              </a:defRPr>
            </a:pPr>
            <a:r>
              <a:rPr lang="en-US" sz="2000" dirty="0">
                <a:solidFill>
                  <a:schemeClr val="tx2"/>
                </a:solidFill>
              </a:rPr>
              <a:t>DDSAnalytics Talent Management Solutions</a:t>
            </a:r>
          </a:p>
        </p:txBody>
      </p:sp>
      <p:sp>
        <p:nvSpPr>
          <p:cNvPr id="6" name="Slide Number Placeholder 12">
            <a:extLst>
              <a:ext uri="{FF2B5EF4-FFF2-40B4-BE49-F238E27FC236}">
                <a16:creationId xmlns:a16="http://schemas.microsoft.com/office/drawing/2014/main" id="{3336D304-34A0-DF28-3BEC-E2E74A054FEA}"/>
              </a:ext>
            </a:extLst>
          </p:cNvPr>
          <p:cNvSpPr txBox="1">
            <a:spLocks/>
          </p:cNvSpPr>
          <p:nvPr/>
        </p:nvSpPr>
        <p:spPr>
          <a:xfrm>
            <a:off x="10058400" y="6495592"/>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tx1"/>
                </a:solidFill>
              </a:rPr>
              <a:t>Slide </a:t>
            </a:r>
            <a:fld id="{C1FF6DA9-008F-8B48-92A6-B652298478BF}" type="slidenum">
              <a:rPr lang="en-US" smtClean="0">
                <a:solidFill>
                  <a:schemeClr val="tx1"/>
                </a:solidFill>
              </a:rPr>
              <a:pPr/>
              <a:t>11</a:t>
            </a:fld>
            <a:endParaRPr lang="en-US" dirty="0">
              <a:solidFill>
                <a:schemeClr val="tx1"/>
              </a:solidFill>
            </a:endParaRPr>
          </a:p>
        </p:txBody>
      </p:sp>
    </p:spTree>
    <p:extLst>
      <p:ext uri="{BB962C8B-B14F-4D97-AF65-F5344CB8AC3E}">
        <p14:creationId xmlns:p14="http://schemas.microsoft.com/office/powerpoint/2010/main" val="2609634525"/>
      </p:ext>
    </p:extLst>
  </p:cSld>
  <p:clrMapOvr>
    <a:masterClrMapping/>
  </p:clrMapOvr>
  <mc:AlternateContent xmlns:mc="http://schemas.openxmlformats.org/markup-compatibility/2006" xmlns:p14="http://schemas.microsoft.com/office/powerpoint/2010/main">
    <mc:Choice Requires="p14">
      <p:transition spd="slow" p14:dur="2000" advTm="15333"/>
    </mc:Choice>
    <mc:Fallback xmlns="">
      <p:transition spd="slow" advTm="1533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5F0FC-1DFA-EB56-4C65-0872862548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C6E675-904F-25B6-D317-9D0B11B817C0}"/>
              </a:ext>
            </a:extLst>
          </p:cNvPr>
          <p:cNvSpPr txBox="1"/>
          <p:nvPr/>
        </p:nvSpPr>
        <p:spPr>
          <a:xfrm>
            <a:off x="685800" y="457200"/>
            <a:ext cx="10820095" cy="523220"/>
          </a:xfrm>
          <a:prstGeom prst="rect">
            <a:avLst/>
          </a:prstGeom>
          <a:noFill/>
        </p:spPr>
        <p:txBody>
          <a:bodyPr wrap="square">
            <a:spAutoFit/>
          </a:bodyPr>
          <a:lstStyle/>
          <a:p>
            <a:pPr>
              <a:defRPr sz="2800" b="1">
                <a:solidFill>
                  <a:srgbClr val="0B1D3A"/>
                </a:solidFill>
              </a:defRPr>
            </a:pPr>
            <a:r>
              <a:rPr lang="en-US" dirty="0"/>
              <a:t>Data Visualization</a:t>
            </a:r>
            <a:endParaRPr dirty="0"/>
          </a:p>
        </p:txBody>
      </p:sp>
      <p:pic>
        <p:nvPicPr>
          <p:cNvPr id="4" name="Picture 3">
            <a:extLst>
              <a:ext uri="{FF2B5EF4-FFF2-40B4-BE49-F238E27FC236}">
                <a16:creationId xmlns:a16="http://schemas.microsoft.com/office/drawing/2014/main" id="{B228A452-D9F9-8413-E2A3-79A0C78412CD}"/>
              </a:ext>
            </a:extLst>
          </p:cNvPr>
          <p:cNvPicPr>
            <a:picLocks noChangeAspect="1"/>
          </p:cNvPicPr>
          <p:nvPr/>
        </p:nvPicPr>
        <p:blipFill>
          <a:blip r:embed="rId2"/>
          <a:stretch>
            <a:fillRect/>
          </a:stretch>
        </p:blipFill>
        <p:spPr>
          <a:xfrm>
            <a:off x="2339840" y="980420"/>
            <a:ext cx="7512320" cy="5512887"/>
          </a:xfrm>
          <a:prstGeom prst="rect">
            <a:avLst/>
          </a:prstGeom>
        </p:spPr>
      </p:pic>
      <p:sp>
        <p:nvSpPr>
          <p:cNvPr id="5" name="TextBox 4">
            <a:extLst>
              <a:ext uri="{FF2B5EF4-FFF2-40B4-BE49-F238E27FC236}">
                <a16:creationId xmlns:a16="http://schemas.microsoft.com/office/drawing/2014/main" id="{82FE1554-6C8E-C5FD-BA24-20496CC4D9A5}"/>
              </a:ext>
            </a:extLst>
          </p:cNvPr>
          <p:cNvSpPr txBox="1"/>
          <p:nvPr/>
        </p:nvSpPr>
        <p:spPr>
          <a:xfrm>
            <a:off x="0" y="6460607"/>
            <a:ext cx="5636435" cy="400110"/>
          </a:xfrm>
          <a:prstGeom prst="rect">
            <a:avLst/>
          </a:prstGeom>
          <a:noFill/>
        </p:spPr>
        <p:txBody>
          <a:bodyPr wrap="square" rtlCol="0">
            <a:spAutoFit/>
          </a:bodyPr>
          <a:lstStyle/>
          <a:p>
            <a:pPr>
              <a:defRPr sz="4000" b="1">
                <a:solidFill>
                  <a:srgbClr val="FFFFFF"/>
                </a:solidFill>
              </a:defRPr>
            </a:pPr>
            <a:r>
              <a:rPr lang="en-US" sz="2000" dirty="0">
                <a:solidFill>
                  <a:schemeClr val="tx2"/>
                </a:solidFill>
              </a:rPr>
              <a:t>DDSAnalytics Talent Management Solutions</a:t>
            </a:r>
          </a:p>
        </p:txBody>
      </p:sp>
      <p:sp>
        <p:nvSpPr>
          <p:cNvPr id="6" name="Slide Number Placeholder 12">
            <a:extLst>
              <a:ext uri="{FF2B5EF4-FFF2-40B4-BE49-F238E27FC236}">
                <a16:creationId xmlns:a16="http://schemas.microsoft.com/office/drawing/2014/main" id="{323A09E4-251F-307A-5CEE-2D2D3C90C1C4}"/>
              </a:ext>
            </a:extLst>
          </p:cNvPr>
          <p:cNvSpPr txBox="1">
            <a:spLocks/>
          </p:cNvSpPr>
          <p:nvPr/>
        </p:nvSpPr>
        <p:spPr>
          <a:xfrm>
            <a:off x="10058400" y="6495592"/>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tx1"/>
                </a:solidFill>
              </a:rPr>
              <a:t>Slide </a:t>
            </a:r>
            <a:fld id="{C1FF6DA9-008F-8B48-92A6-B652298478BF}" type="slidenum">
              <a:rPr lang="en-US" smtClean="0">
                <a:solidFill>
                  <a:schemeClr val="tx1"/>
                </a:solidFill>
              </a:rPr>
              <a:pPr/>
              <a:t>12</a:t>
            </a:fld>
            <a:endParaRPr lang="en-US" dirty="0">
              <a:solidFill>
                <a:schemeClr val="tx1"/>
              </a:solidFill>
            </a:endParaRPr>
          </a:p>
        </p:txBody>
      </p:sp>
    </p:spTree>
    <p:extLst>
      <p:ext uri="{BB962C8B-B14F-4D97-AF65-F5344CB8AC3E}">
        <p14:creationId xmlns:p14="http://schemas.microsoft.com/office/powerpoint/2010/main" val="3945154425"/>
      </p:ext>
    </p:extLst>
  </p:cSld>
  <p:clrMapOvr>
    <a:masterClrMapping/>
  </p:clrMapOvr>
  <mc:AlternateContent xmlns:mc="http://schemas.openxmlformats.org/markup-compatibility/2006" xmlns:p14="http://schemas.microsoft.com/office/powerpoint/2010/main">
    <mc:Choice Requires="p14">
      <p:transition spd="slow" p14:dur="2000" advTm="26429"/>
    </mc:Choice>
    <mc:Fallback xmlns="">
      <p:transition spd="slow" advTm="26429"/>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A0207-BDA5-7ACB-CD8A-71DAD1412F9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5FAE4C9-2AA0-9D10-19A7-64F79122257C}"/>
              </a:ext>
            </a:extLst>
          </p:cNvPr>
          <p:cNvSpPr txBox="1"/>
          <p:nvPr/>
        </p:nvSpPr>
        <p:spPr>
          <a:xfrm>
            <a:off x="685800" y="457200"/>
            <a:ext cx="10820095" cy="523220"/>
          </a:xfrm>
          <a:prstGeom prst="rect">
            <a:avLst/>
          </a:prstGeom>
          <a:noFill/>
        </p:spPr>
        <p:txBody>
          <a:bodyPr wrap="square">
            <a:spAutoFit/>
          </a:bodyPr>
          <a:lstStyle/>
          <a:p>
            <a:pPr>
              <a:defRPr sz="2800" b="1">
                <a:solidFill>
                  <a:srgbClr val="0B1D3A"/>
                </a:solidFill>
              </a:defRPr>
            </a:pPr>
            <a:r>
              <a:rPr lang="en-US" dirty="0"/>
              <a:t>Data Visualization</a:t>
            </a:r>
            <a:endParaRPr dirty="0"/>
          </a:p>
        </p:txBody>
      </p:sp>
      <p:pic>
        <p:nvPicPr>
          <p:cNvPr id="5" name="Picture 4">
            <a:extLst>
              <a:ext uri="{FF2B5EF4-FFF2-40B4-BE49-F238E27FC236}">
                <a16:creationId xmlns:a16="http://schemas.microsoft.com/office/drawing/2014/main" id="{8DC63A15-D8CA-4C90-50B6-8CE8A4D9ADF1}"/>
              </a:ext>
            </a:extLst>
          </p:cNvPr>
          <p:cNvPicPr>
            <a:picLocks noChangeAspect="1"/>
          </p:cNvPicPr>
          <p:nvPr/>
        </p:nvPicPr>
        <p:blipFill>
          <a:blip r:embed="rId2"/>
          <a:stretch>
            <a:fillRect/>
          </a:stretch>
        </p:blipFill>
        <p:spPr>
          <a:xfrm>
            <a:off x="2365537" y="980420"/>
            <a:ext cx="7460926" cy="5488770"/>
          </a:xfrm>
          <a:prstGeom prst="rect">
            <a:avLst/>
          </a:prstGeom>
        </p:spPr>
      </p:pic>
      <p:sp>
        <p:nvSpPr>
          <p:cNvPr id="6" name="TextBox 5">
            <a:extLst>
              <a:ext uri="{FF2B5EF4-FFF2-40B4-BE49-F238E27FC236}">
                <a16:creationId xmlns:a16="http://schemas.microsoft.com/office/drawing/2014/main" id="{81926CA9-1290-E33C-B6E6-B6F7339CE534}"/>
              </a:ext>
            </a:extLst>
          </p:cNvPr>
          <p:cNvSpPr txBox="1"/>
          <p:nvPr/>
        </p:nvSpPr>
        <p:spPr>
          <a:xfrm>
            <a:off x="0" y="6460607"/>
            <a:ext cx="5636435" cy="400110"/>
          </a:xfrm>
          <a:prstGeom prst="rect">
            <a:avLst/>
          </a:prstGeom>
          <a:noFill/>
        </p:spPr>
        <p:txBody>
          <a:bodyPr wrap="square" rtlCol="0">
            <a:spAutoFit/>
          </a:bodyPr>
          <a:lstStyle/>
          <a:p>
            <a:pPr>
              <a:defRPr sz="4000" b="1">
                <a:solidFill>
                  <a:srgbClr val="FFFFFF"/>
                </a:solidFill>
              </a:defRPr>
            </a:pPr>
            <a:r>
              <a:rPr lang="en-US" sz="2000" dirty="0">
                <a:solidFill>
                  <a:schemeClr val="tx2"/>
                </a:solidFill>
              </a:rPr>
              <a:t>DDSAnalytics Talent Management Solutions</a:t>
            </a:r>
          </a:p>
        </p:txBody>
      </p:sp>
      <p:sp>
        <p:nvSpPr>
          <p:cNvPr id="7" name="Slide Number Placeholder 12">
            <a:extLst>
              <a:ext uri="{FF2B5EF4-FFF2-40B4-BE49-F238E27FC236}">
                <a16:creationId xmlns:a16="http://schemas.microsoft.com/office/drawing/2014/main" id="{6000FBEF-54E9-F5C6-69FB-A30027A30CB0}"/>
              </a:ext>
            </a:extLst>
          </p:cNvPr>
          <p:cNvSpPr txBox="1">
            <a:spLocks/>
          </p:cNvSpPr>
          <p:nvPr/>
        </p:nvSpPr>
        <p:spPr>
          <a:xfrm>
            <a:off x="10058400" y="6495592"/>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tx1"/>
                </a:solidFill>
              </a:rPr>
              <a:t>Slide </a:t>
            </a:r>
            <a:fld id="{C1FF6DA9-008F-8B48-92A6-B652298478BF}" type="slidenum">
              <a:rPr lang="en-US" smtClean="0">
                <a:solidFill>
                  <a:schemeClr val="tx1"/>
                </a:solidFill>
              </a:rPr>
              <a:pPr/>
              <a:t>13</a:t>
            </a:fld>
            <a:endParaRPr lang="en-US" dirty="0">
              <a:solidFill>
                <a:schemeClr val="tx1"/>
              </a:solidFill>
            </a:endParaRPr>
          </a:p>
        </p:txBody>
      </p:sp>
    </p:spTree>
    <p:extLst>
      <p:ext uri="{BB962C8B-B14F-4D97-AF65-F5344CB8AC3E}">
        <p14:creationId xmlns:p14="http://schemas.microsoft.com/office/powerpoint/2010/main" val="2078427447"/>
      </p:ext>
    </p:extLst>
  </p:cSld>
  <p:clrMapOvr>
    <a:masterClrMapping/>
  </p:clrMapOvr>
  <mc:AlternateContent xmlns:mc="http://schemas.openxmlformats.org/markup-compatibility/2006" xmlns:p14="http://schemas.microsoft.com/office/powerpoint/2010/main">
    <mc:Choice Requires="p14">
      <p:transition spd="slow" p14:dur="2000" advTm="31175"/>
    </mc:Choice>
    <mc:Fallback xmlns="">
      <p:transition spd="slow" advTm="31175"/>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CC6AF-4554-95A6-401B-F2E2389EEAE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14B1DE2-5E64-8916-88C4-36422CAF585F}"/>
              </a:ext>
            </a:extLst>
          </p:cNvPr>
          <p:cNvSpPr txBox="1"/>
          <p:nvPr/>
        </p:nvSpPr>
        <p:spPr>
          <a:xfrm>
            <a:off x="685800" y="457200"/>
            <a:ext cx="10820095" cy="523220"/>
          </a:xfrm>
          <a:prstGeom prst="rect">
            <a:avLst/>
          </a:prstGeom>
          <a:noFill/>
        </p:spPr>
        <p:txBody>
          <a:bodyPr wrap="square">
            <a:spAutoFit/>
          </a:bodyPr>
          <a:lstStyle/>
          <a:p>
            <a:pPr>
              <a:defRPr sz="2800" b="1">
                <a:solidFill>
                  <a:srgbClr val="0B1D3A"/>
                </a:solidFill>
              </a:defRPr>
            </a:pPr>
            <a:r>
              <a:rPr lang="en-US" dirty="0"/>
              <a:t>Model Comparisons</a:t>
            </a:r>
            <a:endParaRPr dirty="0"/>
          </a:p>
        </p:txBody>
      </p:sp>
      <p:pic>
        <p:nvPicPr>
          <p:cNvPr id="4" name="Picture 3">
            <a:extLst>
              <a:ext uri="{FF2B5EF4-FFF2-40B4-BE49-F238E27FC236}">
                <a16:creationId xmlns:a16="http://schemas.microsoft.com/office/drawing/2014/main" id="{0B46F398-EA53-5D79-334E-9421F2EE155D}"/>
              </a:ext>
            </a:extLst>
          </p:cNvPr>
          <p:cNvPicPr>
            <a:picLocks noChangeAspect="1"/>
          </p:cNvPicPr>
          <p:nvPr/>
        </p:nvPicPr>
        <p:blipFill>
          <a:blip r:embed="rId3"/>
          <a:stretch>
            <a:fillRect/>
          </a:stretch>
        </p:blipFill>
        <p:spPr>
          <a:xfrm>
            <a:off x="1045864" y="2470952"/>
            <a:ext cx="2507946" cy="4037383"/>
          </a:xfrm>
          <a:prstGeom prst="rect">
            <a:avLst/>
          </a:prstGeom>
        </p:spPr>
      </p:pic>
      <p:pic>
        <p:nvPicPr>
          <p:cNvPr id="6" name="Picture 5">
            <a:extLst>
              <a:ext uri="{FF2B5EF4-FFF2-40B4-BE49-F238E27FC236}">
                <a16:creationId xmlns:a16="http://schemas.microsoft.com/office/drawing/2014/main" id="{13DC2A4B-0155-9842-5260-97D844129996}"/>
              </a:ext>
            </a:extLst>
          </p:cNvPr>
          <p:cNvPicPr>
            <a:picLocks noChangeAspect="1"/>
          </p:cNvPicPr>
          <p:nvPr/>
        </p:nvPicPr>
        <p:blipFill>
          <a:blip r:embed="rId4"/>
          <a:stretch>
            <a:fillRect/>
          </a:stretch>
        </p:blipFill>
        <p:spPr>
          <a:xfrm>
            <a:off x="4328992" y="2470952"/>
            <a:ext cx="2544218" cy="4037383"/>
          </a:xfrm>
          <a:prstGeom prst="rect">
            <a:avLst/>
          </a:prstGeom>
        </p:spPr>
      </p:pic>
      <p:pic>
        <p:nvPicPr>
          <p:cNvPr id="8" name="Picture 7">
            <a:extLst>
              <a:ext uri="{FF2B5EF4-FFF2-40B4-BE49-F238E27FC236}">
                <a16:creationId xmlns:a16="http://schemas.microsoft.com/office/drawing/2014/main" id="{0DF1D281-E6BE-61DD-ECF3-F6E5EEBA8D16}"/>
              </a:ext>
            </a:extLst>
          </p:cNvPr>
          <p:cNvPicPr>
            <a:picLocks noChangeAspect="1"/>
          </p:cNvPicPr>
          <p:nvPr/>
        </p:nvPicPr>
        <p:blipFill>
          <a:blip r:embed="rId5"/>
          <a:stretch>
            <a:fillRect/>
          </a:stretch>
        </p:blipFill>
        <p:spPr>
          <a:xfrm>
            <a:off x="7563198" y="2470952"/>
            <a:ext cx="2558670" cy="4037383"/>
          </a:xfrm>
          <a:prstGeom prst="rect">
            <a:avLst/>
          </a:prstGeom>
        </p:spPr>
      </p:pic>
      <p:pic>
        <p:nvPicPr>
          <p:cNvPr id="11" name="Picture 10">
            <a:extLst>
              <a:ext uri="{FF2B5EF4-FFF2-40B4-BE49-F238E27FC236}">
                <a16:creationId xmlns:a16="http://schemas.microsoft.com/office/drawing/2014/main" id="{212A6728-8FF1-CA3F-B7D0-D9F3074B45AA}"/>
              </a:ext>
            </a:extLst>
          </p:cNvPr>
          <p:cNvPicPr>
            <a:picLocks noChangeAspect="1"/>
          </p:cNvPicPr>
          <p:nvPr/>
        </p:nvPicPr>
        <p:blipFill>
          <a:blip r:embed="rId6"/>
          <a:stretch>
            <a:fillRect/>
          </a:stretch>
        </p:blipFill>
        <p:spPr>
          <a:xfrm>
            <a:off x="9643675" y="3954069"/>
            <a:ext cx="2488387" cy="1785960"/>
          </a:xfrm>
          <a:prstGeom prst="rect">
            <a:avLst/>
          </a:prstGeom>
        </p:spPr>
      </p:pic>
      <p:sp>
        <p:nvSpPr>
          <p:cNvPr id="12" name="Rectangle 11">
            <a:extLst>
              <a:ext uri="{FF2B5EF4-FFF2-40B4-BE49-F238E27FC236}">
                <a16:creationId xmlns:a16="http://schemas.microsoft.com/office/drawing/2014/main" id="{3FCE2484-D411-C2A3-64AD-8DC934CABE24}"/>
              </a:ext>
            </a:extLst>
          </p:cNvPr>
          <p:cNvSpPr/>
          <p:nvPr/>
        </p:nvSpPr>
        <p:spPr>
          <a:xfrm>
            <a:off x="745357" y="951095"/>
            <a:ext cx="3108960" cy="1404984"/>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9BC97C90-A356-A82B-F24F-27116D720463}"/>
              </a:ext>
            </a:extLst>
          </p:cNvPr>
          <p:cNvSpPr txBox="1"/>
          <p:nvPr/>
        </p:nvSpPr>
        <p:spPr>
          <a:xfrm>
            <a:off x="685800" y="914923"/>
            <a:ext cx="3271348" cy="1477328"/>
          </a:xfrm>
          <a:prstGeom prst="rect">
            <a:avLst/>
          </a:prstGeom>
          <a:noFill/>
        </p:spPr>
        <p:txBody>
          <a:bodyPr wrap="square">
            <a:spAutoFit/>
          </a:bodyPr>
          <a:lstStyle/>
          <a:p>
            <a:pPr algn="ctr"/>
            <a:r>
              <a:rPr lang="en-US" b="1" dirty="0"/>
              <a:t>Generalized Linear Model (GLM)</a:t>
            </a:r>
          </a:p>
          <a:p>
            <a:r>
              <a:rPr lang="en-US" sz="1200" dirty="0"/>
              <a:t>(https://www.geeksforgeeks.org/r-language/generalized-linear-models-using-r/)</a:t>
            </a:r>
            <a:br>
              <a:rPr dirty="0"/>
            </a:br>
            <a:r>
              <a:rPr lang="en-US" sz="1600" dirty="0"/>
              <a:t>• Accuracy 39.66%</a:t>
            </a:r>
          </a:p>
          <a:p>
            <a:r>
              <a:rPr lang="en-US" sz="1600" dirty="0"/>
              <a:t>• Sensitivity 96.43%</a:t>
            </a:r>
          </a:p>
          <a:p>
            <a:r>
              <a:rPr lang="en-US" sz="1600" dirty="0"/>
              <a:t>• Specificity 28.77%</a:t>
            </a:r>
          </a:p>
        </p:txBody>
      </p:sp>
      <p:sp>
        <p:nvSpPr>
          <p:cNvPr id="18" name="Rectangle 17">
            <a:extLst>
              <a:ext uri="{FF2B5EF4-FFF2-40B4-BE49-F238E27FC236}">
                <a16:creationId xmlns:a16="http://schemas.microsoft.com/office/drawing/2014/main" id="{2798DEE2-4F48-AC8D-52CD-70DF5FB11DA0}"/>
              </a:ext>
            </a:extLst>
          </p:cNvPr>
          <p:cNvSpPr/>
          <p:nvPr/>
        </p:nvSpPr>
        <p:spPr>
          <a:xfrm>
            <a:off x="4016705" y="942230"/>
            <a:ext cx="3108960" cy="1404984"/>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83BAA3B7-A3A7-6223-B88D-DB11CADD7A7E}"/>
              </a:ext>
            </a:extLst>
          </p:cNvPr>
          <p:cNvSpPr txBox="1"/>
          <p:nvPr/>
        </p:nvSpPr>
        <p:spPr>
          <a:xfrm>
            <a:off x="4016705" y="1090724"/>
            <a:ext cx="3108960" cy="1107996"/>
          </a:xfrm>
          <a:prstGeom prst="rect">
            <a:avLst/>
          </a:prstGeom>
          <a:noFill/>
        </p:spPr>
        <p:txBody>
          <a:bodyPr wrap="square">
            <a:spAutoFit/>
          </a:bodyPr>
          <a:lstStyle/>
          <a:p>
            <a:pPr algn="ctr"/>
            <a:r>
              <a:rPr lang="en-US" b="1" dirty="0"/>
              <a:t>Naïve Baynes</a:t>
            </a:r>
          </a:p>
          <a:p>
            <a:r>
              <a:rPr lang="en-US" sz="1600" dirty="0"/>
              <a:t>• Accuracy 86.78%</a:t>
            </a:r>
          </a:p>
          <a:p>
            <a:r>
              <a:rPr lang="en-US" sz="1600" dirty="0"/>
              <a:t>• Sensitivity 46.43%</a:t>
            </a:r>
          </a:p>
          <a:p>
            <a:r>
              <a:rPr lang="en-US" sz="1600" dirty="0"/>
              <a:t>• Specificity 94.52%</a:t>
            </a:r>
          </a:p>
        </p:txBody>
      </p:sp>
      <p:sp>
        <p:nvSpPr>
          <p:cNvPr id="20" name="Rectangle 19">
            <a:extLst>
              <a:ext uri="{FF2B5EF4-FFF2-40B4-BE49-F238E27FC236}">
                <a16:creationId xmlns:a16="http://schemas.microsoft.com/office/drawing/2014/main" id="{177D3A0C-8869-63DC-9D8B-59E5E6EB7E38}"/>
              </a:ext>
            </a:extLst>
          </p:cNvPr>
          <p:cNvSpPr/>
          <p:nvPr/>
        </p:nvSpPr>
        <p:spPr>
          <a:xfrm>
            <a:off x="7257495" y="938501"/>
            <a:ext cx="3108960" cy="1404984"/>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622949FA-B025-B5CA-86B5-BA923525C283}"/>
              </a:ext>
            </a:extLst>
          </p:cNvPr>
          <p:cNvSpPr txBox="1"/>
          <p:nvPr/>
        </p:nvSpPr>
        <p:spPr>
          <a:xfrm>
            <a:off x="7288053" y="1086995"/>
            <a:ext cx="3108960" cy="1107996"/>
          </a:xfrm>
          <a:prstGeom prst="rect">
            <a:avLst/>
          </a:prstGeom>
          <a:noFill/>
        </p:spPr>
        <p:txBody>
          <a:bodyPr wrap="square">
            <a:spAutoFit/>
          </a:bodyPr>
          <a:lstStyle/>
          <a:p>
            <a:pPr algn="ctr"/>
            <a:r>
              <a:rPr lang="en-US" b="1" dirty="0"/>
              <a:t>k-NN</a:t>
            </a:r>
          </a:p>
          <a:p>
            <a:r>
              <a:rPr lang="en-US" sz="1600" dirty="0"/>
              <a:t>• Accuracy 78.16%</a:t>
            </a:r>
          </a:p>
          <a:p>
            <a:r>
              <a:rPr lang="en-US" sz="1600" dirty="0"/>
              <a:t>• Sensitivity 32.14%</a:t>
            </a:r>
          </a:p>
          <a:p>
            <a:r>
              <a:rPr lang="en-US" sz="1600" dirty="0"/>
              <a:t>• Specificity 86.99%</a:t>
            </a:r>
          </a:p>
        </p:txBody>
      </p:sp>
      <p:sp>
        <p:nvSpPr>
          <p:cNvPr id="22" name="Rectangle 21">
            <a:extLst>
              <a:ext uri="{FF2B5EF4-FFF2-40B4-BE49-F238E27FC236}">
                <a16:creationId xmlns:a16="http://schemas.microsoft.com/office/drawing/2014/main" id="{CDA50989-6D70-789E-91C3-2915C266A9A2}"/>
              </a:ext>
            </a:extLst>
          </p:cNvPr>
          <p:cNvSpPr/>
          <p:nvPr/>
        </p:nvSpPr>
        <p:spPr>
          <a:xfrm>
            <a:off x="1735358" y="4965792"/>
            <a:ext cx="1274820" cy="140163"/>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A08CCBB-48F6-9540-9A50-DC8E65B8EF62}"/>
              </a:ext>
            </a:extLst>
          </p:cNvPr>
          <p:cNvSpPr/>
          <p:nvPr/>
        </p:nvSpPr>
        <p:spPr>
          <a:xfrm>
            <a:off x="5070633" y="4958004"/>
            <a:ext cx="1274820" cy="140163"/>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B3BB2B8-EE83-1B23-7DB0-099635CF2372}"/>
              </a:ext>
            </a:extLst>
          </p:cNvPr>
          <p:cNvSpPr/>
          <p:nvPr/>
        </p:nvSpPr>
        <p:spPr>
          <a:xfrm>
            <a:off x="8295234" y="4970242"/>
            <a:ext cx="1274820" cy="140163"/>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732C9D01-3823-B70C-2662-0C98A4388A98}"/>
              </a:ext>
            </a:extLst>
          </p:cNvPr>
          <p:cNvSpPr txBox="1"/>
          <p:nvPr/>
        </p:nvSpPr>
        <p:spPr>
          <a:xfrm>
            <a:off x="0" y="6460607"/>
            <a:ext cx="5636435" cy="400110"/>
          </a:xfrm>
          <a:prstGeom prst="rect">
            <a:avLst/>
          </a:prstGeom>
          <a:noFill/>
        </p:spPr>
        <p:txBody>
          <a:bodyPr wrap="square" rtlCol="0">
            <a:spAutoFit/>
          </a:bodyPr>
          <a:lstStyle/>
          <a:p>
            <a:pPr>
              <a:defRPr sz="4000" b="1">
                <a:solidFill>
                  <a:srgbClr val="FFFFFF"/>
                </a:solidFill>
              </a:defRPr>
            </a:pPr>
            <a:r>
              <a:rPr lang="en-US" sz="2000" dirty="0">
                <a:solidFill>
                  <a:schemeClr val="tx2"/>
                </a:solidFill>
              </a:rPr>
              <a:t>DDSAnalytics Talent Management Solutions</a:t>
            </a:r>
          </a:p>
        </p:txBody>
      </p:sp>
      <p:sp>
        <p:nvSpPr>
          <p:cNvPr id="26" name="Slide Number Placeholder 12">
            <a:extLst>
              <a:ext uri="{FF2B5EF4-FFF2-40B4-BE49-F238E27FC236}">
                <a16:creationId xmlns:a16="http://schemas.microsoft.com/office/drawing/2014/main" id="{438053BF-F273-F861-E987-A012BB8E7569}"/>
              </a:ext>
            </a:extLst>
          </p:cNvPr>
          <p:cNvSpPr txBox="1">
            <a:spLocks/>
          </p:cNvSpPr>
          <p:nvPr/>
        </p:nvSpPr>
        <p:spPr>
          <a:xfrm>
            <a:off x="10058400" y="6495592"/>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tx1"/>
                </a:solidFill>
              </a:rPr>
              <a:t>Slide </a:t>
            </a:r>
            <a:fld id="{C1FF6DA9-008F-8B48-92A6-B652298478BF}" type="slidenum">
              <a:rPr lang="en-US" smtClean="0">
                <a:solidFill>
                  <a:schemeClr val="tx1"/>
                </a:solidFill>
              </a:rPr>
              <a:pPr/>
              <a:t>14</a:t>
            </a:fld>
            <a:endParaRPr lang="en-US" dirty="0">
              <a:solidFill>
                <a:schemeClr val="tx1"/>
              </a:solidFill>
            </a:endParaRPr>
          </a:p>
        </p:txBody>
      </p:sp>
    </p:spTree>
    <p:custDataLst>
      <p:tags r:id="rId1"/>
    </p:custDataLst>
    <p:extLst>
      <p:ext uri="{BB962C8B-B14F-4D97-AF65-F5344CB8AC3E}">
        <p14:creationId xmlns:p14="http://schemas.microsoft.com/office/powerpoint/2010/main" val="1918981670"/>
      </p:ext>
    </p:extLst>
  </p:cSld>
  <p:clrMapOvr>
    <a:masterClrMapping/>
  </p:clrMapOvr>
  <mc:AlternateContent xmlns:mc="http://schemas.openxmlformats.org/markup-compatibility/2006" xmlns:p14="http://schemas.microsoft.com/office/powerpoint/2010/main">
    <mc:Choice Requires="p14">
      <p:transition spd="slow" p14:dur="2000" advTm="49528"/>
    </mc:Choice>
    <mc:Fallback xmlns="">
      <p:transition spd="slow" advTm="4952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8" grpId="0" animBg="1"/>
      <p:bldP spid="19" grpId="0"/>
      <p:bldP spid="20" grpId="0" animBg="1"/>
      <p:bldP spid="21" grpId="0"/>
      <p:bldP spid="22" grpId="0" animBg="1"/>
      <p:bldP spid="23" grpId="0" animBg="1"/>
      <p:bldP spid="2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DF1B1-DEDA-F11D-55DB-A4CFAD556A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D33E6DE-B00A-DF88-AF69-A8139E3CB126}"/>
              </a:ext>
            </a:extLst>
          </p:cNvPr>
          <p:cNvSpPr txBox="1"/>
          <p:nvPr/>
        </p:nvSpPr>
        <p:spPr>
          <a:xfrm>
            <a:off x="685800" y="457200"/>
            <a:ext cx="10820095" cy="769441"/>
          </a:xfrm>
          <a:prstGeom prst="rect">
            <a:avLst/>
          </a:prstGeom>
          <a:noFill/>
        </p:spPr>
        <p:txBody>
          <a:bodyPr wrap="square">
            <a:spAutoFit/>
          </a:bodyPr>
          <a:lstStyle/>
          <a:p>
            <a:pPr>
              <a:defRPr sz="2800" b="1">
                <a:solidFill>
                  <a:srgbClr val="0B1D3A"/>
                </a:solidFill>
              </a:defRPr>
            </a:pPr>
            <a:r>
              <a:rPr lang="en-US" dirty="0"/>
              <a:t>Behind the Green Curtain</a:t>
            </a:r>
            <a:endParaRPr dirty="0"/>
          </a:p>
          <a:p>
            <a:pPr>
              <a:defRPr sz="1400">
                <a:solidFill>
                  <a:srgbClr val="646E78"/>
                </a:solidFill>
              </a:defRPr>
            </a:pPr>
            <a:r>
              <a:rPr lang="en-US" sz="1600" dirty="0">
                <a:solidFill>
                  <a:schemeClr val="tx1">
                    <a:lumMod val="85000"/>
                    <a:lumOff val="15000"/>
                  </a:schemeClr>
                </a:solidFill>
              </a:rPr>
              <a:t>A look at the R Studio Mark Down File</a:t>
            </a:r>
            <a:endParaRPr sz="1600" dirty="0">
              <a:solidFill>
                <a:schemeClr val="tx1">
                  <a:lumMod val="85000"/>
                  <a:lumOff val="15000"/>
                </a:schemeClr>
              </a:solidFill>
            </a:endParaRPr>
          </a:p>
        </p:txBody>
      </p:sp>
      <p:sp>
        <p:nvSpPr>
          <p:cNvPr id="3" name="Rectangle 2">
            <a:extLst>
              <a:ext uri="{FF2B5EF4-FFF2-40B4-BE49-F238E27FC236}">
                <a16:creationId xmlns:a16="http://schemas.microsoft.com/office/drawing/2014/main" id="{31FC222E-6C97-F625-BB6B-1053EC60F2F8}"/>
              </a:ext>
            </a:extLst>
          </p:cNvPr>
          <p:cNvSpPr/>
          <p:nvPr/>
        </p:nvSpPr>
        <p:spPr>
          <a:xfrm>
            <a:off x="140284" y="1764733"/>
            <a:ext cx="3347300" cy="4062651"/>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997CB9CE-1A03-6880-88D1-E2685EC7CF87}"/>
              </a:ext>
            </a:extLst>
          </p:cNvPr>
          <p:cNvSpPr txBox="1"/>
          <p:nvPr/>
        </p:nvSpPr>
        <p:spPr>
          <a:xfrm>
            <a:off x="255641" y="1786925"/>
            <a:ext cx="3108960" cy="4062651"/>
          </a:xfrm>
          <a:prstGeom prst="rect">
            <a:avLst/>
          </a:prstGeom>
          <a:noFill/>
        </p:spPr>
        <p:txBody>
          <a:bodyPr wrap="square">
            <a:spAutoFit/>
          </a:bodyPr>
          <a:lstStyle/>
          <a:p>
            <a:pPr algn="ctr"/>
            <a:r>
              <a:rPr lang="en-US" b="1" dirty="0"/>
              <a:t>Code Description</a:t>
            </a:r>
          </a:p>
          <a:p>
            <a:r>
              <a:rPr sz="1600" dirty="0"/>
              <a:t>• </a:t>
            </a:r>
            <a:r>
              <a:rPr lang="en-US" sz="1600" dirty="0"/>
              <a:t>Read the data (of 870 employees, 140 departed, 730 remained)</a:t>
            </a:r>
            <a:br>
              <a:rPr sz="1600" dirty="0"/>
            </a:br>
            <a:r>
              <a:rPr sz="1600" dirty="0"/>
              <a:t>• </a:t>
            </a:r>
            <a:r>
              <a:rPr lang="en-US" sz="1600" dirty="0"/>
              <a:t>Clean the data, including setting job levels to identify cost to company for regrettable attrition</a:t>
            </a:r>
          </a:p>
          <a:p>
            <a:r>
              <a:rPr lang="en-US" sz="1600" dirty="0"/>
              <a:t>• Set seed to make model results replicable</a:t>
            </a:r>
          </a:p>
          <a:p>
            <a:r>
              <a:rPr lang="en-US" sz="1600" dirty="0"/>
              <a:t>• Divide data into 80-20 train/test set</a:t>
            </a:r>
          </a:p>
          <a:p>
            <a:r>
              <a:rPr lang="en-US" sz="1600" dirty="0"/>
              <a:t>• Setup model and inspect</a:t>
            </a:r>
          </a:p>
          <a:p>
            <a:r>
              <a:rPr lang="en-US" sz="1600" dirty="0"/>
              <a:t>• Use of Generalized Linear Model (GLM): https://www.geeksforgeeks.org/r-language/generalized-linear-models-using-r/</a:t>
            </a:r>
          </a:p>
        </p:txBody>
      </p:sp>
      <p:pic>
        <p:nvPicPr>
          <p:cNvPr id="11" name="Picture 10">
            <a:extLst>
              <a:ext uri="{FF2B5EF4-FFF2-40B4-BE49-F238E27FC236}">
                <a16:creationId xmlns:a16="http://schemas.microsoft.com/office/drawing/2014/main" id="{6DAD047D-0C7D-282E-A54E-CCD86911097A}"/>
              </a:ext>
            </a:extLst>
          </p:cNvPr>
          <p:cNvPicPr>
            <a:picLocks noChangeAspect="1"/>
          </p:cNvPicPr>
          <p:nvPr/>
        </p:nvPicPr>
        <p:blipFill>
          <a:blip r:embed="rId3"/>
          <a:stretch>
            <a:fillRect/>
          </a:stretch>
        </p:blipFill>
        <p:spPr>
          <a:xfrm>
            <a:off x="3587823" y="1911063"/>
            <a:ext cx="4518523" cy="3695477"/>
          </a:xfrm>
          <a:prstGeom prst="rect">
            <a:avLst/>
          </a:prstGeom>
          <a:ln>
            <a:solidFill>
              <a:schemeClr val="accent1">
                <a:shade val="95000"/>
                <a:satMod val="105000"/>
              </a:schemeClr>
            </a:solidFill>
          </a:ln>
        </p:spPr>
      </p:pic>
      <p:pic>
        <p:nvPicPr>
          <p:cNvPr id="13" name="Picture 12">
            <a:extLst>
              <a:ext uri="{FF2B5EF4-FFF2-40B4-BE49-F238E27FC236}">
                <a16:creationId xmlns:a16="http://schemas.microsoft.com/office/drawing/2014/main" id="{71C96ED5-1C09-8FF7-279D-7405BDD7CBA2}"/>
              </a:ext>
            </a:extLst>
          </p:cNvPr>
          <p:cNvPicPr>
            <a:picLocks noChangeAspect="1"/>
          </p:cNvPicPr>
          <p:nvPr/>
        </p:nvPicPr>
        <p:blipFill>
          <a:blip r:embed="rId4"/>
          <a:stretch>
            <a:fillRect/>
          </a:stretch>
        </p:blipFill>
        <p:spPr>
          <a:xfrm>
            <a:off x="8192408" y="1837644"/>
            <a:ext cx="3879330" cy="3935757"/>
          </a:xfrm>
          <a:prstGeom prst="rect">
            <a:avLst/>
          </a:prstGeom>
          <a:ln>
            <a:solidFill>
              <a:schemeClr val="accent1">
                <a:shade val="95000"/>
                <a:satMod val="105000"/>
              </a:schemeClr>
            </a:solidFill>
          </a:ln>
        </p:spPr>
      </p:pic>
      <p:sp>
        <p:nvSpPr>
          <p:cNvPr id="5" name="Rectangle 4">
            <a:extLst>
              <a:ext uri="{FF2B5EF4-FFF2-40B4-BE49-F238E27FC236}">
                <a16:creationId xmlns:a16="http://schemas.microsoft.com/office/drawing/2014/main" id="{406A0659-4544-9352-A9BA-7FB8AB6888BF}"/>
              </a:ext>
            </a:extLst>
          </p:cNvPr>
          <p:cNvSpPr/>
          <p:nvPr/>
        </p:nvSpPr>
        <p:spPr>
          <a:xfrm>
            <a:off x="9175750" y="5137474"/>
            <a:ext cx="749300" cy="22225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B984408D-5D1C-850B-67C5-564E23879157}"/>
              </a:ext>
            </a:extLst>
          </p:cNvPr>
          <p:cNvCxnSpPr/>
          <p:nvPr/>
        </p:nvCxnSpPr>
        <p:spPr>
          <a:xfrm flipV="1">
            <a:off x="8710161" y="5412981"/>
            <a:ext cx="465589" cy="48723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647F7015-5D39-5FC4-9B49-8C6ECF2B23DD}"/>
              </a:ext>
            </a:extLst>
          </p:cNvPr>
          <p:cNvSpPr/>
          <p:nvPr/>
        </p:nvSpPr>
        <p:spPr>
          <a:xfrm>
            <a:off x="5357118" y="5335686"/>
            <a:ext cx="3347300" cy="1306627"/>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979DAAAD-4951-0801-68E5-5E51F9B17FD9}"/>
              </a:ext>
            </a:extLst>
          </p:cNvPr>
          <p:cNvSpPr txBox="1"/>
          <p:nvPr/>
        </p:nvSpPr>
        <p:spPr>
          <a:xfrm>
            <a:off x="5472475" y="5357878"/>
            <a:ext cx="3108960" cy="1354217"/>
          </a:xfrm>
          <a:prstGeom prst="rect">
            <a:avLst/>
          </a:prstGeom>
          <a:noFill/>
        </p:spPr>
        <p:txBody>
          <a:bodyPr wrap="square">
            <a:spAutoFit/>
          </a:bodyPr>
          <a:lstStyle/>
          <a:p>
            <a:pPr algn="ctr"/>
            <a:r>
              <a:rPr lang="en-US" b="1" dirty="0"/>
              <a:t>Model Fit</a:t>
            </a:r>
          </a:p>
          <a:p>
            <a:r>
              <a:rPr sz="1600" dirty="0"/>
              <a:t>• </a:t>
            </a:r>
            <a:r>
              <a:rPr lang="en-US" sz="1600" dirty="0"/>
              <a:t>An explanation of 123.18 points over 13 degrees of freedom shows a highly significant reduction in error.</a:t>
            </a:r>
          </a:p>
        </p:txBody>
      </p:sp>
      <p:sp>
        <p:nvSpPr>
          <p:cNvPr id="12" name="Rectangle 11">
            <a:extLst>
              <a:ext uri="{FF2B5EF4-FFF2-40B4-BE49-F238E27FC236}">
                <a16:creationId xmlns:a16="http://schemas.microsoft.com/office/drawing/2014/main" id="{A217C18C-23FD-1BDB-AFE8-109E11F7270D}"/>
              </a:ext>
            </a:extLst>
          </p:cNvPr>
          <p:cNvSpPr/>
          <p:nvPr/>
        </p:nvSpPr>
        <p:spPr>
          <a:xfrm>
            <a:off x="8219192" y="4211580"/>
            <a:ext cx="3674769" cy="11346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F81D2A6-13B9-E892-CB82-BB9FD39C6AF8}"/>
              </a:ext>
            </a:extLst>
          </p:cNvPr>
          <p:cNvSpPr/>
          <p:nvPr/>
        </p:nvSpPr>
        <p:spPr>
          <a:xfrm>
            <a:off x="8206585" y="2770428"/>
            <a:ext cx="3674769" cy="11346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E3225A6-EB84-30ED-8E74-7EDE8A4D991C}"/>
              </a:ext>
            </a:extLst>
          </p:cNvPr>
          <p:cNvSpPr/>
          <p:nvPr/>
        </p:nvSpPr>
        <p:spPr>
          <a:xfrm>
            <a:off x="8219192" y="3816677"/>
            <a:ext cx="3674769" cy="11346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8BDCABB-F916-D42C-771A-6752AA280A15}"/>
              </a:ext>
            </a:extLst>
          </p:cNvPr>
          <p:cNvSpPr/>
          <p:nvPr/>
        </p:nvSpPr>
        <p:spPr>
          <a:xfrm>
            <a:off x="8206585" y="2892326"/>
            <a:ext cx="3674769" cy="11346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B51D2BD-487A-5EA8-7B68-337ABCE008FD}"/>
              </a:ext>
            </a:extLst>
          </p:cNvPr>
          <p:cNvSpPr/>
          <p:nvPr/>
        </p:nvSpPr>
        <p:spPr>
          <a:xfrm>
            <a:off x="8219191" y="4343956"/>
            <a:ext cx="3674769" cy="11346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647C276-D3DD-A0DF-EB12-8CA10C00DA45}"/>
              </a:ext>
            </a:extLst>
          </p:cNvPr>
          <p:cNvSpPr/>
          <p:nvPr/>
        </p:nvSpPr>
        <p:spPr>
          <a:xfrm>
            <a:off x="8219104" y="4084772"/>
            <a:ext cx="3674769" cy="11346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FE1592A-77B8-F982-903E-8266203C237A}"/>
              </a:ext>
            </a:extLst>
          </p:cNvPr>
          <p:cNvSpPr/>
          <p:nvPr/>
        </p:nvSpPr>
        <p:spPr>
          <a:xfrm>
            <a:off x="5874991" y="335062"/>
            <a:ext cx="3347300" cy="1130188"/>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2BC26E29-9255-C724-5F2C-31B5911165C5}"/>
              </a:ext>
            </a:extLst>
          </p:cNvPr>
          <p:cNvSpPr txBox="1"/>
          <p:nvPr/>
        </p:nvSpPr>
        <p:spPr>
          <a:xfrm>
            <a:off x="5990348" y="357253"/>
            <a:ext cx="3108960" cy="1107996"/>
          </a:xfrm>
          <a:prstGeom prst="rect">
            <a:avLst/>
          </a:prstGeom>
          <a:noFill/>
        </p:spPr>
        <p:txBody>
          <a:bodyPr wrap="square">
            <a:spAutoFit/>
          </a:bodyPr>
          <a:lstStyle/>
          <a:p>
            <a:pPr algn="ctr"/>
            <a:r>
              <a:rPr lang="en-US" b="1" dirty="0"/>
              <a:t>GLM Results</a:t>
            </a:r>
          </a:p>
          <a:p>
            <a:r>
              <a:rPr sz="1600" dirty="0"/>
              <a:t>• </a:t>
            </a:r>
            <a:r>
              <a:rPr lang="en-US" sz="1600" dirty="0"/>
              <a:t>Any factor with a P value less than .05 should be investigated as a potential identifier for attrition.</a:t>
            </a:r>
          </a:p>
        </p:txBody>
      </p:sp>
      <p:cxnSp>
        <p:nvCxnSpPr>
          <p:cNvPr id="21" name="Straight Arrow Connector 20">
            <a:extLst>
              <a:ext uri="{FF2B5EF4-FFF2-40B4-BE49-F238E27FC236}">
                <a16:creationId xmlns:a16="http://schemas.microsoft.com/office/drawing/2014/main" id="{E1DC90DD-5298-4828-7017-6F014EE6A792}"/>
              </a:ext>
            </a:extLst>
          </p:cNvPr>
          <p:cNvCxnSpPr>
            <a:cxnSpLocks/>
          </p:cNvCxnSpPr>
          <p:nvPr/>
        </p:nvCxnSpPr>
        <p:spPr>
          <a:xfrm>
            <a:off x="9222291" y="918822"/>
            <a:ext cx="2538094" cy="184997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302612E0-1A6F-81FC-DB70-4A1DF673109D}"/>
              </a:ext>
            </a:extLst>
          </p:cNvPr>
          <p:cNvCxnSpPr>
            <a:cxnSpLocks/>
          </p:cNvCxnSpPr>
          <p:nvPr/>
        </p:nvCxnSpPr>
        <p:spPr>
          <a:xfrm>
            <a:off x="9222291" y="936002"/>
            <a:ext cx="2538094" cy="28806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27617BA5-6C19-1763-9169-BC0BFF6F41BE}"/>
              </a:ext>
            </a:extLst>
          </p:cNvPr>
          <p:cNvCxnSpPr>
            <a:cxnSpLocks/>
          </p:cNvCxnSpPr>
          <p:nvPr/>
        </p:nvCxnSpPr>
        <p:spPr>
          <a:xfrm>
            <a:off x="9222291" y="947562"/>
            <a:ext cx="2521107" cy="339639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2992614152"/>
      </p:ext>
    </p:extLst>
  </p:cSld>
  <p:clrMapOvr>
    <a:masterClrMapping/>
  </p:clrMapOvr>
  <mc:AlternateContent xmlns:mc="http://schemas.openxmlformats.org/markup-compatibility/2006" xmlns:p14="http://schemas.microsoft.com/office/powerpoint/2010/main">
    <mc:Choice Requires="p14">
      <p:transition spd="slow" p14:dur="2000" advTm="27669"/>
    </mc:Choice>
    <mc:Fallback xmlns="">
      <p:transition spd="slow" advTm="27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8" grpId="0" animBg="1"/>
      <p:bldP spid="10" grpId="0"/>
      <p:bldP spid="19" grpId="0" animBg="1"/>
      <p:bldP spid="2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741E0-3B76-F311-2129-5C72128EA99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AD1040B-FA85-B8A3-3483-53D75D367C06}"/>
              </a:ext>
            </a:extLst>
          </p:cNvPr>
          <p:cNvSpPr txBox="1"/>
          <p:nvPr/>
        </p:nvSpPr>
        <p:spPr>
          <a:xfrm>
            <a:off x="685800" y="457200"/>
            <a:ext cx="10820095" cy="769441"/>
          </a:xfrm>
          <a:prstGeom prst="rect">
            <a:avLst/>
          </a:prstGeom>
          <a:noFill/>
        </p:spPr>
        <p:txBody>
          <a:bodyPr wrap="square">
            <a:spAutoFit/>
          </a:bodyPr>
          <a:lstStyle/>
          <a:p>
            <a:pPr>
              <a:defRPr sz="2800" b="1">
                <a:solidFill>
                  <a:srgbClr val="0B1D3A"/>
                </a:solidFill>
              </a:defRPr>
            </a:pPr>
            <a:r>
              <a:rPr lang="en-US" dirty="0"/>
              <a:t>Behind the Green Curtain</a:t>
            </a:r>
            <a:endParaRPr dirty="0"/>
          </a:p>
          <a:p>
            <a:pPr>
              <a:defRPr sz="1400">
                <a:solidFill>
                  <a:srgbClr val="646E78"/>
                </a:solidFill>
              </a:defRPr>
            </a:pPr>
            <a:r>
              <a:rPr lang="en-US" sz="1600" dirty="0">
                <a:solidFill>
                  <a:schemeClr val="tx1">
                    <a:lumMod val="85000"/>
                    <a:lumOff val="15000"/>
                  </a:schemeClr>
                </a:solidFill>
              </a:rPr>
              <a:t>A look at the R Studio Mark Down File</a:t>
            </a:r>
            <a:endParaRPr sz="1600" dirty="0">
              <a:solidFill>
                <a:schemeClr val="tx1">
                  <a:lumMod val="85000"/>
                  <a:lumOff val="15000"/>
                </a:schemeClr>
              </a:solidFill>
            </a:endParaRPr>
          </a:p>
        </p:txBody>
      </p:sp>
      <p:sp>
        <p:nvSpPr>
          <p:cNvPr id="3" name="Rectangle 2">
            <a:extLst>
              <a:ext uri="{FF2B5EF4-FFF2-40B4-BE49-F238E27FC236}">
                <a16:creationId xmlns:a16="http://schemas.microsoft.com/office/drawing/2014/main" id="{7FCD3B2E-893A-8FAA-5ECF-33AA850F2FCA}"/>
              </a:ext>
            </a:extLst>
          </p:cNvPr>
          <p:cNvSpPr/>
          <p:nvPr/>
        </p:nvSpPr>
        <p:spPr>
          <a:xfrm>
            <a:off x="972803" y="2011680"/>
            <a:ext cx="3383280" cy="3169206"/>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9FE95BE-2379-6FC4-DB71-FF46CF4AE899}"/>
              </a:ext>
            </a:extLst>
          </p:cNvPr>
          <p:cNvSpPr txBox="1"/>
          <p:nvPr/>
        </p:nvSpPr>
        <p:spPr>
          <a:xfrm>
            <a:off x="1109963" y="2103120"/>
            <a:ext cx="3108960" cy="3077766"/>
          </a:xfrm>
          <a:prstGeom prst="rect">
            <a:avLst/>
          </a:prstGeom>
          <a:noFill/>
        </p:spPr>
        <p:txBody>
          <a:bodyPr wrap="square">
            <a:spAutoFit/>
          </a:bodyPr>
          <a:lstStyle/>
          <a:p>
            <a:pPr algn="ctr"/>
            <a:r>
              <a:rPr lang="en-US" b="1" dirty="0"/>
              <a:t>Code Description</a:t>
            </a:r>
          </a:p>
          <a:p>
            <a:r>
              <a:rPr lang="en-US" sz="1600" dirty="0"/>
              <a:t>• Run financial evaluation for the test data to consider baseline cost, model cost, and net savings for all test employees</a:t>
            </a:r>
          </a:p>
          <a:p>
            <a:r>
              <a:rPr lang="en-US" sz="1600" dirty="0"/>
              <a:t>• Set threshold to 70% which resulted in (131 employees flagged) with a 95% probability of correctly identifying flight risks and consider baseline vs model cost to maximize financial returns.</a:t>
            </a:r>
          </a:p>
          <a:p>
            <a:r>
              <a:rPr lang="en-US" sz="1600" dirty="0"/>
              <a:t>• Check optimal strategy results</a:t>
            </a:r>
            <a:endParaRPr sz="1600" dirty="0"/>
          </a:p>
        </p:txBody>
      </p:sp>
      <p:pic>
        <p:nvPicPr>
          <p:cNvPr id="8" name="Picture 7">
            <a:extLst>
              <a:ext uri="{FF2B5EF4-FFF2-40B4-BE49-F238E27FC236}">
                <a16:creationId xmlns:a16="http://schemas.microsoft.com/office/drawing/2014/main" id="{FBD285C5-5F31-A24B-7687-AEEAB7581B99}"/>
              </a:ext>
            </a:extLst>
          </p:cNvPr>
          <p:cNvPicPr>
            <a:picLocks noChangeAspect="1"/>
          </p:cNvPicPr>
          <p:nvPr/>
        </p:nvPicPr>
        <p:blipFill>
          <a:blip r:embed="rId3"/>
          <a:stretch>
            <a:fillRect/>
          </a:stretch>
        </p:blipFill>
        <p:spPr>
          <a:xfrm>
            <a:off x="5649243" y="262924"/>
            <a:ext cx="5156687" cy="4839547"/>
          </a:xfrm>
          <a:prstGeom prst="rect">
            <a:avLst/>
          </a:prstGeom>
          <a:ln>
            <a:solidFill>
              <a:schemeClr val="accent1">
                <a:shade val="95000"/>
                <a:satMod val="105000"/>
              </a:schemeClr>
            </a:solidFill>
          </a:ln>
        </p:spPr>
      </p:pic>
      <p:pic>
        <p:nvPicPr>
          <p:cNvPr id="12" name="Picture 11">
            <a:extLst>
              <a:ext uri="{FF2B5EF4-FFF2-40B4-BE49-F238E27FC236}">
                <a16:creationId xmlns:a16="http://schemas.microsoft.com/office/drawing/2014/main" id="{458DCD98-EFD6-902F-0E39-C5912BBE0D7F}"/>
              </a:ext>
            </a:extLst>
          </p:cNvPr>
          <p:cNvPicPr>
            <a:picLocks noChangeAspect="1"/>
          </p:cNvPicPr>
          <p:nvPr/>
        </p:nvPicPr>
        <p:blipFill>
          <a:blip r:embed="rId4"/>
          <a:stretch>
            <a:fillRect/>
          </a:stretch>
        </p:blipFill>
        <p:spPr>
          <a:xfrm>
            <a:off x="5096683" y="5176424"/>
            <a:ext cx="6230219" cy="1390844"/>
          </a:xfrm>
          <a:prstGeom prst="rect">
            <a:avLst/>
          </a:prstGeom>
          <a:ln>
            <a:solidFill>
              <a:schemeClr val="accent1">
                <a:shade val="95000"/>
                <a:satMod val="105000"/>
              </a:schemeClr>
            </a:solidFill>
          </a:ln>
        </p:spPr>
      </p:pic>
    </p:spTree>
    <p:custDataLst>
      <p:tags r:id="rId1"/>
    </p:custDataLst>
    <p:extLst>
      <p:ext uri="{BB962C8B-B14F-4D97-AF65-F5344CB8AC3E}">
        <p14:creationId xmlns:p14="http://schemas.microsoft.com/office/powerpoint/2010/main" val="3356871617"/>
      </p:ext>
    </p:extLst>
  </p:cSld>
  <p:clrMapOvr>
    <a:masterClrMapping/>
  </p:clrMapOvr>
  <mc:AlternateContent xmlns:mc="http://schemas.openxmlformats.org/markup-compatibility/2006" xmlns:p14="http://schemas.microsoft.com/office/powerpoint/2010/main">
    <mc:Choice Requires="p14">
      <p:transition spd="slow" p14:dur="2000" advTm="8413"/>
    </mc:Choice>
    <mc:Fallback xmlns="">
      <p:transition spd="slow" advTm="841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C3B42-AFA3-1E0F-06A2-35AE3E9613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7669270-0309-F63D-1366-630C42E5BDEC}"/>
              </a:ext>
            </a:extLst>
          </p:cNvPr>
          <p:cNvSpPr txBox="1"/>
          <p:nvPr/>
        </p:nvSpPr>
        <p:spPr>
          <a:xfrm>
            <a:off x="685800" y="457200"/>
            <a:ext cx="10820095" cy="769441"/>
          </a:xfrm>
          <a:prstGeom prst="rect">
            <a:avLst/>
          </a:prstGeom>
          <a:noFill/>
        </p:spPr>
        <p:txBody>
          <a:bodyPr wrap="square">
            <a:spAutoFit/>
          </a:bodyPr>
          <a:lstStyle/>
          <a:p>
            <a:pPr>
              <a:defRPr sz="2800" b="1">
                <a:solidFill>
                  <a:srgbClr val="0B1D3A"/>
                </a:solidFill>
              </a:defRPr>
            </a:pPr>
            <a:r>
              <a:rPr lang="en-US" dirty="0"/>
              <a:t>Behind the Green Curtain</a:t>
            </a:r>
            <a:endParaRPr dirty="0"/>
          </a:p>
          <a:p>
            <a:pPr>
              <a:defRPr sz="1400">
                <a:solidFill>
                  <a:srgbClr val="646E78"/>
                </a:solidFill>
              </a:defRPr>
            </a:pPr>
            <a:r>
              <a:rPr lang="en-US" sz="1600" dirty="0">
                <a:solidFill>
                  <a:schemeClr val="tx1">
                    <a:lumMod val="85000"/>
                    <a:lumOff val="15000"/>
                  </a:schemeClr>
                </a:solidFill>
              </a:rPr>
              <a:t>A look at the R Studio Mark Down File</a:t>
            </a:r>
            <a:endParaRPr sz="1600" dirty="0">
              <a:solidFill>
                <a:schemeClr val="tx1">
                  <a:lumMod val="85000"/>
                  <a:lumOff val="15000"/>
                </a:schemeClr>
              </a:solidFill>
            </a:endParaRPr>
          </a:p>
        </p:txBody>
      </p:sp>
      <p:sp>
        <p:nvSpPr>
          <p:cNvPr id="3" name="Rectangle 2">
            <a:extLst>
              <a:ext uri="{FF2B5EF4-FFF2-40B4-BE49-F238E27FC236}">
                <a16:creationId xmlns:a16="http://schemas.microsoft.com/office/drawing/2014/main" id="{68EEF3A2-21E4-9A12-951F-B4250F3577D4}"/>
              </a:ext>
            </a:extLst>
          </p:cNvPr>
          <p:cNvSpPr/>
          <p:nvPr/>
        </p:nvSpPr>
        <p:spPr>
          <a:xfrm>
            <a:off x="926085" y="2365419"/>
            <a:ext cx="3383280" cy="2184321"/>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ED8D5CB-B448-7790-744A-9FEC958AE586}"/>
              </a:ext>
            </a:extLst>
          </p:cNvPr>
          <p:cNvSpPr txBox="1"/>
          <p:nvPr/>
        </p:nvSpPr>
        <p:spPr>
          <a:xfrm>
            <a:off x="1063245" y="2411138"/>
            <a:ext cx="3108960" cy="2092881"/>
          </a:xfrm>
          <a:prstGeom prst="rect">
            <a:avLst/>
          </a:prstGeom>
          <a:noFill/>
        </p:spPr>
        <p:txBody>
          <a:bodyPr wrap="square">
            <a:spAutoFit/>
          </a:bodyPr>
          <a:lstStyle/>
          <a:p>
            <a:pPr algn="ctr"/>
            <a:r>
              <a:rPr lang="en-US" b="1" dirty="0"/>
              <a:t>Code Description</a:t>
            </a:r>
          </a:p>
          <a:p>
            <a:r>
              <a:rPr lang="en-US" sz="1600" dirty="0"/>
              <a:t>• Make ROI Plot for Plot for alpha considerations (95% probability) and a 40% mitigation success rate (40% of those that were identified as flight risks stayed due to preventative action ($200 incentive care)).</a:t>
            </a:r>
          </a:p>
        </p:txBody>
      </p:sp>
      <p:pic>
        <p:nvPicPr>
          <p:cNvPr id="6" name="Picture 5">
            <a:extLst>
              <a:ext uri="{FF2B5EF4-FFF2-40B4-BE49-F238E27FC236}">
                <a16:creationId xmlns:a16="http://schemas.microsoft.com/office/drawing/2014/main" id="{EC6AF8FD-193F-2DF0-AA1F-252FC37B92FD}"/>
              </a:ext>
            </a:extLst>
          </p:cNvPr>
          <p:cNvPicPr>
            <a:picLocks noChangeAspect="1"/>
          </p:cNvPicPr>
          <p:nvPr/>
        </p:nvPicPr>
        <p:blipFill>
          <a:blip r:embed="rId4"/>
          <a:stretch>
            <a:fillRect/>
          </a:stretch>
        </p:blipFill>
        <p:spPr>
          <a:xfrm>
            <a:off x="5028535" y="211790"/>
            <a:ext cx="6458479" cy="2460716"/>
          </a:xfrm>
          <a:prstGeom prst="rect">
            <a:avLst/>
          </a:prstGeom>
          <a:ln>
            <a:solidFill>
              <a:schemeClr val="accent1">
                <a:shade val="95000"/>
                <a:satMod val="105000"/>
              </a:schemeClr>
            </a:solidFill>
          </a:ln>
        </p:spPr>
      </p:pic>
      <p:pic>
        <p:nvPicPr>
          <p:cNvPr id="10" name="Picture 9">
            <a:extLst>
              <a:ext uri="{FF2B5EF4-FFF2-40B4-BE49-F238E27FC236}">
                <a16:creationId xmlns:a16="http://schemas.microsoft.com/office/drawing/2014/main" id="{59F95737-60E1-4FE1-887D-5445EC8126F8}"/>
              </a:ext>
            </a:extLst>
          </p:cNvPr>
          <p:cNvPicPr>
            <a:picLocks noChangeAspect="1"/>
          </p:cNvPicPr>
          <p:nvPr/>
        </p:nvPicPr>
        <p:blipFill>
          <a:blip r:embed="rId5"/>
          <a:stretch>
            <a:fillRect/>
          </a:stretch>
        </p:blipFill>
        <p:spPr>
          <a:xfrm>
            <a:off x="5028535" y="2672506"/>
            <a:ext cx="5123308" cy="3966927"/>
          </a:xfrm>
          <a:prstGeom prst="rect">
            <a:avLst/>
          </a:prstGeom>
          <a:ln>
            <a:solidFill>
              <a:schemeClr val="accent1">
                <a:shade val="95000"/>
                <a:satMod val="105000"/>
              </a:schemeClr>
            </a:solidFill>
          </a:ln>
        </p:spPr>
      </p:pic>
    </p:spTree>
    <p:custDataLst>
      <p:tags r:id="rId1"/>
    </p:custDataLst>
    <p:extLst>
      <p:ext uri="{BB962C8B-B14F-4D97-AF65-F5344CB8AC3E}">
        <p14:creationId xmlns:p14="http://schemas.microsoft.com/office/powerpoint/2010/main" val="2527534067"/>
      </p:ext>
    </p:extLst>
  </p:cSld>
  <p:clrMapOvr>
    <a:masterClrMapping/>
  </p:clrMapOvr>
  <mc:AlternateContent xmlns:mc="http://schemas.openxmlformats.org/markup-compatibility/2006" xmlns:p14="http://schemas.microsoft.com/office/powerpoint/2010/main">
    <mc:Choice Requires="p14">
      <p:transition spd="slow" p14:dur="2000" advTm="14433"/>
    </mc:Choice>
    <mc:Fallback xmlns="">
      <p:transition spd="slow" advTm="144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E9F7B-C48D-5EB5-ABA4-C572599C5C3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43AEB3C-F9A4-EDCF-178B-05BF684DFB3D}"/>
              </a:ext>
            </a:extLst>
          </p:cNvPr>
          <p:cNvSpPr txBox="1"/>
          <p:nvPr/>
        </p:nvSpPr>
        <p:spPr>
          <a:xfrm>
            <a:off x="685800" y="457200"/>
            <a:ext cx="10820095" cy="769441"/>
          </a:xfrm>
          <a:prstGeom prst="rect">
            <a:avLst/>
          </a:prstGeom>
          <a:noFill/>
        </p:spPr>
        <p:txBody>
          <a:bodyPr wrap="square">
            <a:spAutoFit/>
          </a:bodyPr>
          <a:lstStyle/>
          <a:p>
            <a:pPr>
              <a:defRPr sz="2800" b="1">
                <a:solidFill>
                  <a:srgbClr val="0B1D3A"/>
                </a:solidFill>
              </a:defRPr>
            </a:pPr>
            <a:r>
              <a:rPr lang="en-US" dirty="0"/>
              <a:t>Behind the Green Curtain</a:t>
            </a:r>
            <a:endParaRPr dirty="0"/>
          </a:p>
          <a:p>
            <a:pPr>
              <a:defRPr sz="1400">
                <a:solidFill>
                  <a:srgbClr val="646E78"/>
                </a:solidFill>
              </a:defRPr>
            </a:pPr>
            <a:r>
              <a:rPr lang="en-US" sz="1600" dirty="0">
                <a:solidFill>
                  <a:schemeClr val="tx1">
                    <a:lumMod val="85000"/>
                    <a:lumOff val="15000"/>
                  </a:schemeClr>
                </a:solidFill>
              </a:rPr>
              <a:t>A look at the R Studio Mark Down File</a:t>
            </a:r>
            <a:endParaRPr sz="1600" dirty="0">
              <a:solidFill>
                <a:schemeClr val="tx1">
                  <a:lumMod val="85000"/>
                  <a:lumOff val="15000"/>
                </a:schemeClr>
              </a:solidFill>
            </a:endParaRPr>
          </a:p>
        </p:txBody>
      </p:sp>
      <p:sp>
        <p:nvSpPr>
          <p:cNvPr id="3" name="Rectangle 2">
            <a:extLst>
              <a:ext uri="{FF2B5EF4-FFF2-40B4-BE49-F238E27FC236}">
                <a16:creationId xmlns:a16="http://schemas.microsoft.com/office/drawing/2014/main" id="{BEA77D02-8C1A-4FB8-8E0D-4F612B757994}"/>
              </a:ext>
            </a:extLst>
          </p:cNvPr>
          <p:cNvSpPr/>
          <p:nvPr/>
        </p:nvSpPr>
        <p:spPr>
          <a:xfrm>
            <a:off x="912731" y="2011679"/>
            <a:ext cx="3383280" cy="2707541"/>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E607637-7A78-F50C-3A4D-2427A484A274}"/>
              </a:ext>
            </a:extLst>
          </p:cNvPr>
          <p:cNvSpPr txBox="1"/>
          <p:nvPr/>
        </p:nvSpPr>
        <p:spPr>
          <a:xfrm>
            <a:off x="1049891" y="2103120"/>
            <a:ext cx="3108960" cy="2616101"/>
          </a:xfrm>
          <a:prstGeom prst="rect">
            <a:avLst/>
          </a:prstGeom>
          <a:noFill/>
        </p:spPr>
        <p:txBody>
          <a:bodyPr wrap="square">
            <a:spAutoFit/>
          </a:bodyPr>
          <a:lstStyle/>
          <a:p>
            <a:pPr algn="ctr"/>
            <a:r>
              <a:rPr lang="en-US" b="1" dirty="0"/>
              <a:t>Code Description</a:t>
            </a:r>
          </a:p>
          <a:p>
            <a:br>
              <a:rPr dirty="0"/>
            </a:br>
            <a:r>
              <a:rPr lang="en-US" sz="1600" dirty="0"/>
              <a:t>• Final verification of model results to produce slide deck including employees that stayed, risk exposure cost (calculated by annual salaries and replacement cost), mitigation strategy cost, savings, and resultant model truth table.</a:t>
            </a:r>
          </a:p>
        </p:txBody>
      </p:sp>
      <p:pic>
        <p:nvPicPr>
          <p:cNvPr id="7" name="Picture 6">
            <a:extLst>
              <a:ext uri="{FF2B5EF4-FFF2-40B4-BE49-F238E27FC236}">
                <a16:creationId xmlns:a16="http://schemas.microsoft.com/office/drawing/2014/main" id="{013B5C2A-3BC4-D7A2-A25C-AA06C622C0E2}"/>
              </a:ext>
            </a:extLst>
          </p:cNvPr>
          <p:cNvPicPr>
            <a:picLocks noChangeAspect="1"/>
          </p:cNvPicPr>
          <p:nvPr/>
        </p:nvPicPr>
        <p:blipFill>
          <a:blip r:embed="rId4"/>
          <a:stretch>
            <a:fillRect/>
          </a:stretch>
        </p:blipFill>
        <p:spPr>
          <a:xfrm>
            <a:off x="4877905" y="323711"/>
            <a:ext cx="6929432" cy="6210577"/>
          </a:xfrm>
          <a:prstGeom prst="rect">
            <a:avLst/>
          </a:prstGeom>
          <a:ln>
            <a:solidFill>
              <a:schemeClr val="accent1">
                <a:shade val="95000"/>
                <a:satMod val="105000"/>
              </a:schemeClr>
            </a:solidFill>
          </a:ln>
        </p:spPr>
      </p:pic>
    </p:spTree>
    <p:custDataLst>
      <p:tags r:id="rId1"/>
    </p:custDataLst>
    <p:extLst>
      <p:ext uri="{BB962C8B-B14F-4D97-AF65-F5344CB8AC3E}">
        <p14:creationId xmlns:p14="http://schemas.microsoft.com/office/powerpoint/2010/main" val="836588158"/>
      </p:ext>
    </p:extLst>
  </p:cSld>
  <p:clrMapOvr>
    <a:masterClrMapping/>
  </p:clrMapOvr>
  <mc:AlternateContent xmlns:mc="http://schemas.openxmlformats.org/markup-compatibility/2006" xmlns:p14="http://schemas.microsoft.com/office/powerpoint/2010/main">
    <mc:Choice Requires="p14">
      <p:transition spd="slow" p14:dur="2000" advTm="18843"/>
    </mc:Choice>
    <mc:Fallback xmlns="">
      <p:transition spd="slow" advTm="1884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48378-EEA0-D0F5-FDA8-56BF8275817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1F398A-6BBB-0B6E-8953-459DBA75218C}"/>
              </a:ext>
            </a:extLst>
          </p:cNvPr>
          <p:cNvSpPr txBox="1"/>
          <p:nvPr/>
        </p:nvSpPr>
        <p:spPr>
          <a:xfrm>
            <a:off x="685800" y="457200"/>
            <a:ext cx="10820095" cy="769441"/>
          </a:xfrm>
          <a:prstGeom prst="rect">
            <a:avLst/>
          </a:prstGeom>
          <a:noFill/>
        </p:spPr>
        <p:txBody>
          <a:bodyPr wrap="square">
            <a:spAutoFit/>
          </a:bodyPr>
          <a:lstStyle/>
          <a:p>
            <a:pPr>
              <a:defRPr sz="2800" b="1">
                <a:solidFill>
                  <a:srgbClr val="0B1D3A"/>
                </a:solidFill>
              </a:defRPr>
            </a:pPr>
            <a:r>
              <a:rPr lang="en-US" dirty="0"/>
              <a:t>Competition Portion</a:t>
            </a:r>
            <a:endParaRPr dirty="0"/>
          </a:p>
          <a:p>
            <a:pPr>
              <a:defRPr sz="1400">
                <a:solidFill>
                  <a:srgbClr val="646E78"/>
                </a:solidFill>
              </a:defRPr>
            </a:pPr>
            <a:r>
              <a:rPr lang="en-US" sz="1600" dirty="0">
                <a:solidFill>
                  <a:schemeClr val="tx1">
                    <a:lumMod val="85000"/>
                    <a:lumOff val="15000"/>
                  </a:schemeClr>
                </a:solidFill>
              </a:rPr>
              <a:t>60% Sensitivity and 60% Specificity Challenge</a:t>
            </a:r>
            <a:endParaRPr sz="1600" dirty="0">
              <a:solidFill>
                <a:schemeClr val="tx1">
                  <a:lumMod val="85000"/>
                  <a:lumOff val="15000"/>
                </a:schemeClr>
              </a:solidFill>
            </a:endParaRPr>
          </a:p>
        </p:txBody>
      </p:sp>
      <p:sp>
        <p:nvSpPr>
          <p:cNvPr id="3" name="Rectangle 2">
            <a:extLst>
              <a:ext uri="{FF2B5EF4-FFF2-40B4-BE49-F238E27FC236}">
                <a16:creationId xmlns:a16="http://schemas.microsoft.com/office/drawing/2014/main" id="{A8C24312-2308-B136-ABC3-71DDF8A46091}"/>
              </a:ext>
            </a:extLst>
          </p:cNvPr>
          <p:cNvSpPr/>
          <p:nvPr/>
        </p:nvSpPr>
        <p:spPr>
          <a:xfrm>
            <a:off x="685800" y="2011679"/>
            <a:ext cx="3383280" cy="3385542"/>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CAB8CE9-1653-7B9D-A590-5279105BAADA}"/>
              </a:ext>
            </a:extLst>
          </p:cNvPr>
          <p:cNvSpPr txBox="1"/>
          <p:nvPr/>
        </p:nvSpPr>
        <p:spPr>
          <a:xfrm>
            <a:off x="822960" y="2103120"/>
            <a:ext cx="3108960" cy="3385542"/>
          </a:xfrm>
          <a:prstGeom prst="rect">
            <a:avLst/>
          </a:prstGeom>
          <a:noFill/>
        </p:spPr>
        <p:txBody>
          <a:bodyPr wrap="square">
            <a:spAutoFit/>
          </a:bodyPr>
          <a:lstStyle/>
          <a:p>
            <a:pPr algn="ctr"/>
            <a:r>
              <a:rPr lang="en-US" b="1" dirty="0"/>
              <a:t>Model Selection</a:t>
            </a:r>
          </a:p>
          <a:p>
            <a:r>
              <a:rPr lang="en-US" sz="1600" dirty="0"/>
              <a:t>• As noted in a previous slide, all previously evaluated models (GLM, Naïve Baynes, and k-NN) failed to achieve 60% for both sensitivity and specificity.</a:t>
            </a:r>
          </a:p>
          <a:p>
            <a:r>
              <a:rPr lang="en-US" sz="1600" dirty="0"/>
              <a:t>• After searching some RStudio model resources, Random Forest (RF) seemed like a good model for this use case.</a:t>
            </a:r>
          </a:p>
          <a:p>
            <a:r>
              <a:rPr lang="en-US" sz="1200" dirty="0"/>
              <a:t>https://www.geeksforgeeks.org/r-language/random-forest-approach-in-r-programming/</a:t>
            </a:r>
          </a:p>
          <a:p>
            <a:endParaRPr lang="en-US" sz="1600" dirty="0"/>
          </a:p>
        </p:txBody>
      </p:sp>
      <p:pic>
        <p:nvPicPr>
          <p:cNvPr id="6" name="Picture 5">
            <a:extLst>
              <a:ext uri="{FF2B5EF4-FFF2-40B4-BE49-F238E27FC236}">
                <a16:creationId xmlns:a16="http://schemas.microsoft.com/office/drawing/2014/main" id="{8B857D4E-AD70-3A0E-B239-479CEDB45745}"/>
              </a:ext>
            </a:extLst>
          </p:cNvPr>
          <p:cNvPicPr>
            <a:picLocks noChangeAspect="1"/>
          </p:cNvPicPr>
          <p:nvPr/>
        </p:nvPicPr>
        <p:blipFill>
          <a:blip r:embed="rId4"/>
          <a:stretch>
            <a:fillRect/>
          </a:stretch>
        </p:blipFill>
        <p:spPr>
          <a:xfrm>
            <a:off x="4092772" y="1812914"/>
            <a:ext cx="7758829" cy="3832872"/>
          </a:xfrm>
          <a:prstGeom prst="rect">
            <a:avLst/>
          </a:prstGeom>
        </p:spPr>
      </p:pic>
    </p:spTree>
    <p:custDataLst>
      <p:tags r:id="rId1"/>
    </p:custDataLst>
    <p:extLst>
      <p:ext uri="{BB962C8B-B14F-4D97-AF65-F5344CB8AC3E}">
        <p14:creationId xmlns:p14="http://schemas.microsoft.com/office/powerpoint/2010/main" val="43532500"/>
      </p:ext>
    </p:extLst>
  </p:cSld>
  <p:clrMapOvr>
    <a:masterClrMapping/>
  </p:clrMapOvr>
  <mc:AlternateContent xmlns:mc="http://schemas.openxmlformats.org/markup-compatibility/2006" xmlns:p14="http://schemas.microsoft.com/office/powerpoint/2010/main">
    <mc:Choice Requires="p14">
      <p:transition spd="slow" p14:dur="2000" advTm="10935"/>
    </mc:Choice>
    <mc:Fallback xmlns="">
      <p:transition spd="slow" advTm="1093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46C29-70FB-E055-EB6D-D45FA39D5C9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B016235-FA86-165B-FCDB-C8E70F75F2AD}"/>
              </a:ext>
            </a:extLst>
          </p:cNvPr>
          <p:cNvSpPr txBox="1"/>
          <p:nvPr/>
        </p:nvSpPr>
        <p:spPr>
          <a:xfrm>
            <a:off x="685800" y="457200"/>
            <a:ext cx="10820095" cy="769441"/>
          </a:xfrm>
          <a:prstGeom prst="rect">
            <a:avLst/>
          </a:prstGeom>
          <a:noFill/>
        </p:spPr>
        <p:txBody>
          <a:bodyPr wrap="square">
            <a:spAutoFit/>
          </a:bodyPr>
          <a:lstStyle/>
          <a:p>
            <a:pPr>
              <a:defRPr sz="2800" b="1">
                <a:solidFill>
                  <a:srgbClr val="0B1D3A"/>
                </a:solidFill>
              </a:defRPr>
            </a:pPr>
            <a:r>
              <a:rPr lang="en-US" dirty="0"/>
              <a:t>Behind the Green Curtain</a:t>
            </a:r>
            <a:endParaRPr dirty="0"/>
          </a:p>
          <a:p>
            <a:pPr>
              <a:defRPr sz="1400">
                <a:solidFill>
                  <a:srgbClr val="646E78"/>
                </a:solidFill>
              </a:defRPr>
            </a:pPr>
            <a:r>
              <a:rPr lang="en-US" sz="1600" dirty="0">
                <a:solidFill>
                  <a:schemeClr val="tx1">
                    <a:lumMod val="85000"/>
                    <a:lumOff val="15000"/>
                  </a:schemeClr>
                </a:solidFill>
              </a:rPr>
              <a:t>Random Forest (RF) Code for 0.42 Threshold</a:t>
            </a:r>
            <a:endParaRPr sz="1600" dirty="0">
              <a:solidFill>
                <a:schemeClr val="tx1">
                  <a:lumMod val="85000"/>
                  <a:lumOff val="15000"/>
                </a:schemeClr>
              </a:solidFill>
            </a:endParaRPr>
          </a:p>
        </p:txBody>
      </p:sp>
      <p:pic>
        <p:nvPicPr>
          <p:cNvPr id="6" name="Picture 5">
            <a:extLst>
              <a:ext uri="{FF2B5EF4-FFF2-40B4-BE49-F238E27FC236}">
                <a16:creationId xmlns:a16="http://schemas.microsoft.com/office/drawing/2014/main" id="{284D26E7-1D71-CCAB-EF2B-83FC70C64CE5}"/>
              </a:ext>
            </a:extLst>
          </p:cNvPr>
          <p:cNvPicPr>
            <a:picLocks noChangeAspect="1"/>
          </p:cNvPicPr>
          <p:nvPr/>
        </p:nvPicPr>
        <p:blipFill>
          <a:blip r:embed="rId3"/>
          <a:stretch>
            <a:fillRect/>
          </a:stretch>
        </p:blipFill>
        <p:spPr>
          <a:xfrm>
            <a:off x="525813" y="1683841"/>
            <a:ext cx="6183650" cy="4309817"/>
          </a:xfrm>
          <a:prstGeom prst="rect">
            <a:avLst/>
          </a:prstGeom>
        </p:spPr>
      </p:pic>
      <p:pic>
        <p:nvPicPr>
          <p:cNvPr id="7" name="Picture 6">
            <a:extLst>
              <a:ext uri="{FF2B5EF4-FFF2-40B4-BE49-F238E27FC236}">
                <a16:creationId xmlns:a16="http://schemas.microsoft.com/office/drawing/2014/main" id="{766C0C12-ADF5-EE62-1F74-D181ABADAA43}"/>
              </a:ext>
            </a:extLst>
          </p:cNvPr>
          <p:cNvPicPr>
            <a:picLocks noChangeAspect="1"/>
          </p:cNvPicPr>
          <p:nvPr/>
        </p:nvPicPr>
        <p:blipFill>
          <a:blip r:embed="rId4"/>
          <a:stretch>
            <a:fillRect/>
          </a:stretch>
        </p:blipFill>
        <p:spPr>
          <a:xfrm>
            <a:off x="6709463" y="1683841"/>
            <a:ext cx="2539771" cy="4055307"/>
          </a:xfrm>
          <a:prstGeom prst="rect">
            <a:avLst/>
          </a:prstGeom>
        </p:spPr>
      </p:pic>
      <p:sp>
        <p:nvSpPr>
          <p:cNvPr id="3" name="Rectangle 2">
            <a:extLst>
              <a:ext uri="{FF2B5EF4-FFF2-40B4-BE49-F238E27FC236}">
                <a16:creationId xmlns:a16="http://schemas.microsoft.com/office/drawing/2014/main" id="{15FEA1F1-E284-75D8-4014-394C87C139A4}"/>
              </a:ext>
            </a:extLst>
          </p:cNvPr>
          <p:cNvSpPr/>
          <p:nvPr/>
        </p:nvSpPr>
        <p:spPr>
          <a:xfrm>
            <a:off x="9497911" y="1658460"/>
            <a:ext cx="2242451" cy="4388471"/>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0C92BD6-5CE0-DEF5-F54B-03B0F05D385F}"/>
              </a:ext>
            </a:extLst>
          </p:cNvPr>
          <p:cNvSpPr txBox="1"/>
          <p:nvPr/>
        </p:nvSpPr>
        <p:spPr>
          <a:xfrm>
            <a:off x="9584845" y="1696628"/>
            <a:ext cx="2194785" cy="4297030"/>
          </a:xfrm>
          <a:prstGeom prst="rect">
            <a:avLst/>
          </a:prstGeom>
          <a:noFill/>
        </p:spPr>
        <p:txBody>
          <a:bodyPr wrap="square">
            <a:spAutoFit/>
          </a:bodyPr>
          <a:lstStyle/>
          <a:p>
            <a:pPr algn="ctr"/>
            <a:r>
              <a:rPr lang="en-US" b="1" dirty="0"/>
              <a:t>Code Description</a:t>
            </a:r>
          </a:p>
          <a:p>
            <a:r>
              <a:rPr lang="en-US" sz="1600" dirty="0"/>
              <a:t>• Read data file</a:t>
            </a:r>
          </a:p>
          <a:p>
            <a:r>
              <a:rPr lang="en-US" sz="1600" dirty="0"/>
              <a:t>• Cleaned data</a:t>
            </a:r>
          </a:p>
          <a:p>
            <a:r>
              <a:rPr lang="en-US" sz="1600" dirty="0"/>
              <a:t>• Set seed</a:t>
            </a:r>
          </a:p>
          <a:p>
            <a:r>
              <a:rPr lang="en-US" sz="1600" dirty="0"/>
              <a:t>• Split data 80/20 for training/test</a:t>
            </a:r>
          </a:p>
          <a:p>
            <a:r>
              <a:rPr lang="en-US" sz="1600" dirty="0"/>
              <a:t>• Set up Random Forest model</a:t>
            </a:r>
          </a:p>
          <a:p>
            <a:r>
              <a:rPr lang="en-US" sz="1600" dirty="0"/>
              <a:t>• Check </a:t>
            </a:r>
            <a:r>
              <a:rPr lang="en-US" sz="1600" dirty="0" err="1"/>
              <a:t>val</a:t>
            </a:r>
            <a:r>
              <a:rPr lang="en-US" sz="1600" dirty="0"/>
              <a:t>_ probs</a:t>
            </a:r>
          </a:p>
          <a:p>
            <a:r>
              <a:rPr lang="en-US" sz="1600" dirty="0"/>
              <a:t>• Set up Random Forest model</a:t>
            </a:r>
          </a:p>
          <a:p>
            <a:r>
              <a:rPr lang="en-US" sz="1600" dirty="0"/>
              <a:t>• Used classification threshold of 0.42 to set final </a:t>
            </a:r>
            <a:r>
              <a:rPr lang="en-US" sz="1600" dirty="0" err="1"/>
              <a:t>val_preds</a:t>
            </a:r>
            <a:endParaRPr lang="en-US" sz="1600" dirty="0"/>
          </a:p>
          <a:p>
            <a:r>
              <a:rPr lang="en-US" sz="1600" dirty="0"/>
              <a:t>• Checked confusion matrix to evaluate model performance</a:t>
            </a:r>
          </a:p>
        </p:txBody>
      </p:sp>
    </p:spTree>
    <p:custDataLst>
      <p:tags r:id="rId1"/>
    </p:custDataLst>
    <p:extLst>
      <p:ext uri="{BB962C8B-B14F-4D97-AF65-F5344CB8AC3E}">
        <p14:creationId xmlns:p14="http://schemas.microsoft.com/office/powerpoint/2010/main" val="3153502468"/>
      </p:ext>
    </p:extLst>
  </p:cSld>
  <p:clrMapOvr>
    <a:masterClrMapping/>
  </p:clrMapOvr>
  <mc:AlternateContent xmlns:mc="http://schemas.openxmlformats.org/markup-compatibility/2006" xmlns:p14="http://schemas.microsoft.com/office/powerpoint/2010/main">
    <mc:Choice Requires="p14">
      <p:transition spd="slow" p14:dur="2000" advTm="9838"/>
    </mc:Choice>
    <mc:Fallback xmlns="">
      <p:transition spd="slow" advTm="983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5A5F2-49C6-130D-C435-8AAA4AF0086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5FFA4B8-F363-445E-D65E-396AF79DBEBE}"/>
              </a:ext>
            </a:extLst>
          </p:cNvPr>
          <p:cNvSpPr txBox="1"/>
          <p:nvPr/>
        </p:nvSpPr>
        <p:spPr>
          <a:xfrm>
            <a:off x="685800" y="457200"/>
            <a:ext cx="10820095" cy="523220"/>
          </a:xfrm>
          <a:prstGeom prst="rect">
            <a:avLst/>
          </a:prstGeom>
          <a:noFill/>
        </p:spPr>
        <p:txBody>
          <a:bodyPr wrap="square">
            <a:spAutoFit/>
          </a:bodyPr>
          <a:lstStyle/>
          <a:p>
            <a:pPr>
              <a:defRPr sz="2800" b="1">
                <a:solidFill>
                  <a:srgbClr val="0B1D3A"/>
                </a:solidFill>
              </a:defRPr>
            </a:pPr>
            <a:r>
              <a:rPr lang="en-US" dirty="0"/>
              <a:t>Model Comparisons</a:t>
            </a:r>
            <a:endParaRPr dirty="0"/>
          </a:p>
        </p:txBody>
      </p:sp>
      <p:sp>
        <p:nvSpPr>
          <p:cNvPr id="12" name="Rectangle 11">
            <a:extLst>
              <a:ext uri="{FF2B5EF4-FFF2-40B4-BE49-F238E27FC236}">
                <a16:creationId xmlns:a16="http://schemas.microsoft.com/office/drawing/2014/main" id="{DF335AC5-824D-B7FC-E90E-2EB089B5966D}"/>
              </a:ext>
            </a:extLst>
          </p:cNvPr>
          <p:cNvSpPr/>
          <p:nvPr/>
        </p:nvSpPr>
        <p:spPr>
          <a:xfrm>
            <a:off x="745357" y="951095"/>
            <a:ext cx="3108960" cy="1319687"/>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70C967F2-9007-85FA-237C-57DC2B07BBF7}"/>
              </a:ext>
            </a:extLst>
          </p:cNvPr>
          <p:cNvSpPr txBox="1"/>
          <p:nvPr/>
        </p:nvSpPr>
        <p:spPr>
          <a:xfrm>
            <a:off x="716358" y="916565"/>
            <a:ext cx="3199075" cy="1354217"/>
          </a:xfrm>
          <a:prstGeom prst="rect">
            <a:avLst/>
          </a:prstGeom>
          <a:noFill/>
        </p:spPr>
        <p:txBody>
          <a:bodyPr wrap="square">
            <a:spAutoFit/>
          </a:bodyPr>
          <a:lstStyle/>
          <a:p>
            <a:pPr algn="ctr"/>
            <a:r>
              <a:rPr lang="en-US" b="1" dirty="0"/>
              <a:t>RF1 w/ 0.42 Threshold </a:t>
            </a:r>
          </a:p>
          <a:p>
            <a:r>
              <a:rPr lang="en-US" sz="1600" dirty="0"/>
              <a:t>• Accuracy 63.22% (Max 70.39%)</a:t>
            </a:r>
          </a:p>
          <a:p>
            <a:r>
              <a:rPr lang="en-US" sz="1600" dirty="0"/>
              <a:t>• Sensitivity 75.00%</a:t>
            </a:r>
          </a:p>
          <a:p>
            <a:r>
              <a:rPr lang="en-US" sz="1600" dirty="0"/>
              <a:t>• Specificity 60.96%</a:t>
            </a:r>
          </a:p>
          <a:p>
            <a:r>
              <a:rPr lang="en-US" sz="1600" dirty="0"/>
              <a:t>• </a:t>
            </a:r>
            <a:r>
              <a:rPr lang="en-US" sz="1600" dirty="0" err="1"/>
              <a:t>Sen+Spec</a:t>
            </a:r>
            <a:r>
              <a:rPr lang="en-US" sz="1600" dirty="0"/>
              <a:t> 135.96%</a:t>
            </a:r>
          </a:p>
        </p:txBody>
      </p:sp>
      <p:sp>
        <p:nvSpPr>
          <p:cNvPr id="18" name="Rectangle 17">
            <a:extLst>
              <a:ext uri="{FF2B5EF4-FFF2-40B4-BE49-F238E27FC236}">
                <a16:creationId xmlns:a16="http://schemas.microsoft.com/office/drawing/2014/main" id="{169E2D6F-B089-A0C4-E45A-93AB95173E31}"/>
              </a:ext>
            </a:extLst>
          </p:cNvPr>
          <p:cNvSpPr/>
          <p:nvPr/>
        </p:nvSpPr>
        <p:spPr>
          <a:xfrm>
            <a:off x="4016705" y="951662"/>
            <a:ext cx="3108960" cy="1319119"/>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278FFD34-81E6-E2D0-A7DA-8243D022AE05}"/>
              </a:ext>
            </a:extLst>
          </p:cNvPr>
          <p:cNvSpPr txBox="1"/>
          <p:nvPr/>
        </p:nvSpPr>
        <p:spPr>
          <a:xfrm>
            <a:off x="3958308" y="916565"/>
            <a:ext cx="3210232" cy="1354217"/>
          </a:xfrm>
          <a:prstGeom prst="rect">
            <a:avLst/>
          </a:prstGeom>
          <a:noFill/>
        </p:spPr>
        <p:txBody>
          <a:bodyPr wrap="square">
            <a:spAutoFit/>
          </a:bodyPr>
          <a:lstStyle/>
          <a:p>
            <a:pPr algn="ctr"/>
            <a:r>
              <a:rPr lang="en-US" b="1" dirty="0"/>
              <a:t>RF2 w/ 0.40 Threshold</a:t>
            </a:r>
          </a:p>
          <a:p>
            <a:r>
              <a:rPr lang="en-US" sz="1600" dirty="0"/>
              <a:t>• Accuracy 64.94% (Max 72.01%)</a:t>
            </a:r>
          </a:p>
          <a:p>
            <a:r>
              <a:rPr lang="en-US" sz="1600" dirty="0"/>
              <a:t>• Sensitivity 85.71%</a:t>
            </a:r>
          </a:p>
          <a:p>
            <a:r>
              <a:rPr lang="en-US" sz="1600" dirty="0"/>
              <a:t>• Specificity 60.96%</a:t>
            </a:r>
          </a:p>
          <a:p>
            <a:r>
              <a:rPr lang="en-US" sz="1600" dirty="0"/>
              <a:t>• </a:t>
            </a:r>
            <a:r>
              <a:rPr lang="en-US" sz="1600" dirty="0" err="1"/>
              <a:t>Sen+Spec</a:t>
            </a:r>
            <a:r>
              <a:rPr lang="en-US" sz="1600" dirty="0"/>
              <a:t> 136.67%</a:t>
            </a:r>
          </a:p>
        </p:txBody>
      </p:sp>
      <p:sp>
        <p:nvSpPr>
          <p:cNvPr id="20" name="Rectangle 19">
            <a:extLst>
              <a:ext uri="{FF2B5EF4-FFF2-40B4-BE49-F238E27FC236}">
                <a16:creationId xmlns:a16="http://schemas.microsoft.com/office/drawing/2014/main" id="{FE445446-0CC1-0104-1690-26525571B3BC}"/>
              </a:ext>
            </a:extLst>
          </p:cNvPr>
          <p:cNvSpPr/>
          <p:nvPr/>
        </p:nvSpPr>
        <p:spPr>
          <a:xfrm>
            <a:off x="7257495" y="938501"/>
            <a:ext cx="3108960" cy="1332280"/>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348773AA-7B6D-BE6E-B7CB-EF46A1E7AE0C}"/>
              </a:ext>
            </a:extLst>
          </p:cNvPr>
          <p:cNvSpPr txBox="1"/>
          <p:nvPr/>
        </p:nvSpPr>
        <p:spPr>
          <a:xfrm>
            <a:off x="7257494" y="916565"/>
            <a:ext cx="3108960" cy="1354217"/>
          </a:xfrm>
          <a:prstGeom prst="rect">
            <a:avLst/>
          </a:prstGeom>
          <a:noFill/>
        </p:spPr>
        <p:txBody>
          <a:bodyPr wrap="square">
            <a:spAutoFit/>
          </a:bodyPr>
          <a:lstStyle/>
          <a:p>
            <a:pPr algn="ctr"/>
            <a:r>
              <a:rPr lang="en-US" b="1" dirty="0"/>
              <a:t>RF3 w/ 0.1 Threshold</a:t>
            </a:r>
          </a:p>
          <a:p>
            <a:r>
              <a:rPr lang="en-US" sz="1600" dirty="0"/>
              <a:t>• Accuracy 21.26% (Max 28.1%)</a:t>
            </a:r>
          </a:p>
          <a:p>
            <a:r>
              <a:rPr lang="en-US" sz="1600" dirty="0"/>
              <a:t>• Sensitivity 100%</a:t>
            </a:r>
          </a:p>
          <a:p>
            <a:r>
              <a:rPr lang="en-US" sz="1600" dirty="0"/>
              <a:t>• Specificity 6.16%</a:t>
            </a:r>
          </a:p>
          <a:p>
            <a:r>
              <a:rPr lang="en-US" sz="1600" dirty="0"/>
              <a:t>• </a:t>
            </a:r>
            <a:r>
              <a:rPr lang="en-US" sz="1600" dirty="0" err="1"/>
              <a:t>Sen+Spec</a:t>
            </a:r>
            <a:r>
              <a:rPr lang="en-US" sz="1600" dirty="0"/>
              <a:t> 106.16%</a:t>
            </a:r>
          </a:p>
        </p:txBody>
      </p:sp>
      <p:pic>
        <p:nvPicPr>
          <p:cNvPr id="10" name="Picture 9">
            <a:extLst>
              <a:ext uri="{FF2B5EF4-FFF2-40B4-BE49-F238E27FC236}">
                <a16:creationId xmlns:a16="http://schemas.microsoft.com/office/drawing/2014/main" id="{CA12773A-2F59-50B0-9D45-B95F51051BAA}"/>
              </a:ext>
            </a:extLst>
          </p:cNvPr>
          <p:cNvPicPr>
            <a:picLocks noChangeAspect="1"/>
          </p:cNvPicPr>
          <p:nvPr/>
        </p:nvPicPr>
        <p:blipFill>
          <a:blip r:embed="rId3"/>
          <a:stretch>
            <a:fillRect/>
          </a:stretch>
        </p:blipFill>
        <p:spPr>
          <a:xfrm>
            <a:off x="4274237" y="2552391"/>
            <a:ext cx="2578374" cy="4055307"/>
          </a:xfrm>
          <a:prstGeom prst="rect">
            <a:avLst/>
          </a:prstGeom>
        </p:spPr>
      </p:pic>
      <p:pic>
        <p:nvPicPr>
          <p:cNvPr id="15" name="Picture 14">
            <a:extLst>
              <a:ext uri="{FF2B5EF4-FFF2-40B4-BE49-F238E27FC236}">
                <a16:creationId xmlns:a16="http://schemas.microsoft.com/office/drawing/2014/main" id="{023A42B2-8324-00FD-651F-DE5F1B4694FB}"/>
              </a:ext>
            </a:extLst>
          </p:cNvPr>
          <p:cNvPicPr>
            <a:picLocks noChangeAspect="1"/>
          </p:cNvPicPr>
          <p:nvPr/>
        </p:nvPicPr>
        <p:blipFill>
          <a:blip r:embed="rId4"/>
          <a:stretch>
            <a:fillRect/>
          </a:stretch>
        </p:blipFill>
        <p:spPr>
          <a:xfrm>
            <a:off x="1035570" y="2552391"/>
            <a:ext cx="2539771" cy="4055307"/>
          </a:xfrm>
          <a:prstGeom prst="rect">
            <a:avLst/>
          </a:prstGeom>
        </p:spPr>
      </p:pic>
      <p:sp>
        <p:nvSpPr>
          <p:cNvPr id="22" name="Rectangle 21">
            <a:extLst>
              <a:ext uri="{FF2B5EF4-FFF2-40B4-BE49-F238E27FC236}">
                <a16:creationId xmlns:a16="http://schemas.microsoft.com/office/drawing/2014/main" id="{F5863792-FEE1-ABE5-68F8-4371D47895BD}"/>
              </a:ext>
            </a:extLst>
          </p:cNvPr>
          <p:cNvSpPr/>
          <p:nvPr/>
        </p:nvSpPr>
        <p:spPr>
          <a:xfrm>
            <a:off x="1770800" y="5049739"/>
            <a:ext cx="1214057" cy="290927"/>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AA60962-683E-FFFC-F045-C6B847CF7BAC}"/>
              </a:ext>
            </a:extLst>
          </p:cNvPr>
          <p:cNvSpPr/>
          <p:nvPr/>
        </p:nvSpPr>
        <p:spPr>
          <a:xfrm>
            <a:off x="5025082" y="5049739"/>
            <a:ext cx="1222205" cy="290927"/>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85485F4C-5A9B-BD18-B637-A9D6F63D2D05}"/>
              </a:ext>
            </a:extLst>
          </p:cNvPr>
          <p:cNvPicPr>
            <a:picLocks noChangeAspect="1"/>
          </p:cNvPicPr>
          <p:nvPr/>
        </p:nvPicPr>
        <p:blipFill>
          <a:blip r:embed="rId5"/>
          <a:stretch>
            <a:fillRect/>
          </a:stretch>
        </p:blipFill>
        <p:spPr>
          <a:xfrm>
            <a:off x="7567781" y="2552391"/>
            <a:ext cx="2488387" cy="4063528"/>
          </a:xfrm>
          <a:prstGeom prst="rect">
            <a:avLst/>
          </a:prstGeom>
        </p:spPr>
      </p:pic>
      <p:sp>
        <p:nvSpPr>
          <p:cNvPr id="24" name="Rectangle 23">
            <a:extLst>
              <a:ext uri="{FF2B5EF4-FFF2-40B4-BE49-F238E27FC236}">
                <a16:creationId xmlns:a16="http://schemas.microsoft.com/office/drawing/2014/main" id="{090315B9-ED12-33CC-B25A-4988428C90BA}"/>
              </a:ext>
            </a:extLst>
          </p:cNvPr>
          <p:cNvSpPr/>
          <p:nvPr/>
        </p:nvSpPr>
        <p:spPr>
          <a:xfrm>
            <a:off x="8317791" y="5052815"/>
            <a:ext cx="1292796" cy="320111"/>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35A687A5-53E8-5DAE-FE0C-DB85139E47ED}"/>
              </a:ext>
            </a:extLst>
          </p:cNvPr>
          <p:cNvPicPr>
            <a:picLocks noChangeAspect="1"/>
          </p:cNvPicPr>
          <p:nvPr/>
        </p:nvPicPr>
        <p:blipFill>
          <a:blip r:embed="rId6"/>
          <a:stretch>
            <a:fillRect/>
          </a:stretch>
        </p:blipFill>
        <p:spPr>
          <a:xfrm>
            <a:off x="9636424" y="4072420"/>
            <a:ext cx="2488387" cy="1776360"/>
          </a:xfrm>
          <a:prstGeom prst="rect">
            <a:avLst/>
          </a:prstGeom>
        </p:spPr>
      </p:pic>
    </p:spTree>
    <p:custDataLst>
      <p:tags r:id="rId1"/>
    </p:custDataLst>
    <p:extLst>
      <p:ext uri="{BB962C8B-B14F-4D97-AF65-F5344CB8AC3E}">
        <p14:creationId xmlns:p14="http://schemas.microsoft.com/office/powerpoint/2010/main" val="345047461"/>
      </p:ext>
    </p:extLst>
  </p:cSld>
  <p:clrMapOvr>
    <a:masterClrMapping/>
  </p:clrMapOvr>
  <mc:AlternateContent xmlns:mc="http://schemas.openxmlformats.org/markup-compatibility/2006" xmlns:p14="http://schemas.microsoft.com/office/powerpoint/2010/main">
    <mc:Choice Requires="p14">
      <p:transition spd="slow" p14:dur="2000" advTm="32250"/>
    </mc:Choice>
    <mc:Fallback xmlns="">
      <p:transition spd="slow" advTm="3225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9" grpId="0"/>
      <p:bldP spid="21" grpId="0"/>
      <p:bldP spid="22" grpId="0" animBg="1"/>
      <p:bldP spid="23" grpId="0" animBg="1"/>
      <p:bldP spid="2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45791-6974-1FCF-B336-1538CFACF71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906E959-6152-E668-B549-45F963834E8D}"/>
              </a:ext>
            </a:extLst>
          </p:cNvPr>
          <p:cNvSpPr txBox="1"/>
          <p:nvPr/>
        </p:nvSpPr>
        <p:spPr>
          <a:xfrm>
            <a:off x="685800" y="457200"/>
            <a:ext cx="10820095" cy="523220"/>
          </a:xfrm>
          <a:prstGeom prst="rect">
            <a:avLst/>
          </a:prstGeom>
          <a:noFill/>
        </p:spPr>
        <p:txBody>
          <a:bodyPr wrap="square">
            <a:spAutoFit/>
          </a:bodyPr>
          <a:lstStyle/>
          <a:p>
            <a:pPr>
              <a:defRPr sz="2800" b="1">
                <a:solidFill>
                  <a:srgbClr val="0B1D3A"/>
                </a:solidFill>
              </a:defRPr>
            </a:pPr>
            <a:r>
              <a:rPr lang="en-US" dirty="0"/>
              <a:t>Model Comparisons</a:t>
            </a:r>
            <a:endParaRPr dirty="0"/>
          </a:p>
        </p:txBody>
      </p:sp>
      <p:sp>
        <p:nvSpPr>
          <p:cNvPr id="12" name="Rectangle 11">
            <a:extLst>
              <a:ext uri="{FF2B5EF4-FFF2-40B4-BE49-F238E27FC236}">
                <a16:creationId xmlns:a16="http://schemas.microsoft.com/office/drawing/2014/main" id="{21F31F92-6FC3-8C28-A498-343CDB4B236C}"/>
              </a:ext>
            </a:extLst>
          </p:cNvPr>
          <p:cNvSpPr/>
          <p:nvPr/>
        </p:nvSpPr>
        <p:spPr>
          <a:xfrm>
            <a:off x="745357" y="951095"/>
            <a:ext cx="3108960" cy="1319687"/>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9FE2F3C6-05B9-60DD-2E99-06109CF79DF1}"/>
              </a:ext>
            </a:extLst>
          </p:cNvPr>
          <p:cNvSpPr txBox="1"/>
          <p:nvPr/>
        </p:nvSpPr>
        <p:spPr>
          <a:xfrm>
            <a:off x="716358" y="916565"/>
            <a:ext cx="3199075" cy="1354217"/>
          </a:xfrm>
          <a:prstGeom prst="rect">
            <a:avLst/>
          </a:prstGeom>
          <a:noFill/>
        </p:spPr>
        <p:txBody>
          <a:bodyPr wrap="square">
            <a:spAutoFit/>
          </a:bodyPr>
          <a:lstStyle/>
          <a:p>
            <a:pPr algn="ctr"/>
            <a:r>
              <a:rPr lang="en-US" b="1" dirty="0"/>
              <a:t>NB w/ 0.50 Threshold </a:t>
            </a:r>
          </a:p>
          <a:p>
            <a:r>
              <a:rPr lang="en-US" sz="1600" dirty="0"/>
              <a:t>• Accuracy 86.78%</a:t>
            </a:r>
          </a:p>
          <a:p>
            <a:r>
              <a:rPr lang="en-US" sz="1600" dirty="0"/>
              <a:t>• Sensitivity 46.43%</a:t>
            </a:r>
          </a:p>
          <a:p>
            <a:r>
              <a:rPr lang="en-US" sz="1600" dirty="0"/>
              <a:t>• Specificity 94.52%</a:t>
            </a:r>
          </a:p>
          <a:p>
            <a:r>
              <a:rPr lang="en-US" sz="1600" dirty="0"/>
              <a:t>• </a:t>
            </a:r>
            <a:r>
              <a:rPr lang="en-US" sz="1600" dirty="0" err="1"/>
              <a:t>Sen+Spec</a:t>
            </a:r>
            <a:r>
              <a:rPr lang="en-US" sz="1600" dirty="0"/>
              <a:t> 135.96%</a:t>
            </a:r>
          </a:p>
        </p:txBody>
      </p:sp>
      <p:sp>
        <p:nvSpPr>
          <p:cNvPr id="18" name="Rectangle 17">
            <a:extLst>
              <a:ext uri="{FF2B5EF4-FFF2-40B4-BE49-F238E27FC236}">
                <a16:creationId xmlns:a16="http://schemas.microsoft.com/office/drawing/2014/main" id="{14EB414D-3FA8-1674-AEEE-E985FECA6B16}"/>
              </a:ext>
            </a:extLst>
          </p:cNvPr>
          <p:cNvSpPr/>
          <p:nvPr/>
        </p:nvSpPr>
        <p:spPr>
          <a:xfrm>
            <a:off x="4016705" y="951662"/>
            <a:ext cx="3108960" cy="1319119"/>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C63A8AD0-19A4-7F5C-9DA7-1605BABC343B}"/>
              </a:ext>
            </a:extLst>
          </p:cNvPr>
          <p:cNvSpPr txBox="1"/>
          <p:nvPr/>
        </p:nvSpPr>
        <p:spPr>
          <a:xfrm>
            <a:off x="3958308" y="916565"/>
            <a:ext cx="3210232" cy="1354217"/>
          </a:xfrm>
          <a:prstGeom prst="rect">
            <a:avLst/>
          </a:prstGeom>
          <a:noFill/>
        </p:spPr>
        <p:txBody>
          <a:bodyPr wrap="square">
            <a:spAutoFit/>
          </a:bodyPr>
          <a:lstStyle/>
          <a:p>
            <a:pPr algn="ctr"/>
            <a:r>
              <a:rPr lang="en-US" b="1" dirty="0"/>
              <a:t>NB2 w/ 0.30 Threshold</a:t>
            </a:r>
          </a:p>
          <a:p>
            <a:r>
              <a:rPr lang="en-US" sz="1600" dirty="0"/>
              <a:t>• Accuracy 81.61% </a:t>
            </a:r>
          </a:p>
          <a:p>
            <a:r>
              <a:rPr lang="en-US" sz="1600" dirty="0"/>
              <a:t>• Sensitivity 67.86%</a:t>
            </a:r>
          </a:p>
          <a:p>
            <a:r>
              <a:rPr lang="en-US" sz="1600" dirty="0"/>
              <a:t>• Specificity 84.25%</a:t>
            </a:r>
          </a:p>
          <a:p>
            <a:r>
              <a:rPr lang="en-US" sz="1600" dirty="0"/>
              <a:t>• </a:t>
            </a:r>
            <a:r>
              <a:rPr lang="en-US" sz="1600" dirty="0" err="1"/>
              <a:t>Sen+Spec</a:t>
            </a:r>
            <a:r>
              <a:rPr lang="en-US" sz="1600" dirty="0"/>
              <a:t> 152.03%</a:t>
            </a:r>
          </a:p>
        </p:txBody>
      </p:sp>
      <p:sp>
        <p:nvSpPr>
          <p:cNvPr id="20" name="Rectangle 19">
            <a:extLst>
              <a:ext uri="{FF2B5EF4-FFF2-40B4-BE49-F238E27FC236}">
                <a16:creationId xmlns:a16="http://schemas.microsoft.com/office/drawing/2014/main" id="{A085EE13-6B35-1001-96D4-A0507D30BEA0}"/>
              </a:ext>
            </a:extLst>
          </p:cNvPr>
          <p:cNvSpPr/>
          <p:nvPr/>
        </p:nvSpPr>
        <p:spPr>
          <a:xfrm>
            <a:off x="7257495" y="938501"/>
            <a:ext cx="3108960" cy="1332280"/>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41BC8FE6-C45C-C655-50E1-90AD80F6AE09}"/>
              </a:ext>
            </a:extLst>
          </p:cNvPr>
          <p:cNvSpPr txBox="1"/>
          <p:nvPr/>
        </p:nvSpPr>
        <p:spPr>
          <a:xfrm>
            <a:off x="7257494" y="916565"/>
            <a:ext cx="3108960" cy="1354217"/>
          </a:xfrm>
          <a:prstGeom prst="rect">
            <a:avLst/>
          </a:prstGeom>
          <a:noFill/>
        </p:spPr>
        <p:txBody>
          <a:bodyPr wrap="square">
            <a:spAutoFit/>
          </a:bodyPr>
          <a:lstStyle/>
          <a:p>
            <a:pPr algn="ctr"/>
            <a:r>
              <a:rPr lang="en-US" b="1" dirty="0"/>
              <a:t>NB3 w/ 0.2918321 Threshold</a:t>
            </a:r>
          </a:p>
          <a:p>
            <a:r>
              <a:rPr lang="en-US" sz="1600" dirty="0"/>
              <a:t>• Accuracy 82.76%</a:t>
            </a:r>
          </a:p>
          <a:p>
            <a:r>
              <a:rPr lang="en-US" sz="1600" dirty="0"/>
              <a:t>• Sensitivity 75.00%</a:t>
            </a:r>
          </a:p>
          <a:p>
            <a:r>
              <a:rPr lang="en-US" sz="1600" dirty="0"/>
              <a:t>• Specificity 84.25%</a:t>
            </a:r>
          </a:p>
          <a:p>
            <a:r>
              <a:rPr lang="en-US" sz="1600" dirty="0"/>
              <a:t>• </a:t>
            </a:r>
            <a:r>
              <a:rPr lang="en-US" sz="1600" dirty="0" err="1"/>
              <a:t>Sen+Spec</a:t>
            </a:r>
            <a:r>
              <a:rPr lang="en-US" sz="1600" dirty="0"/>
              <a:t> 159.25%</a:t>
            </a:r>
          </a:p>
        </p:txBody>
      </p:sp>
      <p:pic>
        <p:nvPicPr>
          <p:cNvPr id="3" name="Picture 2">
            <a:extLst>
              <a:ext uri="{FF2B5EF4-FFF2-40B4-BE49-F238E27FC236}">
                <a16:creationId xmlns:a16="http://schemas.microsoft.com/office/drawing/2014/main" id="{435E2AEF-0FB6-811F-09FC-520E5C1ACFF7}"/>
              </a:ext>
            </a:extLst>
          </p:cNvPr>
          <p:cNvPicPr>
            <a:picLocks noChangeAspect="1"/>
          </p:cNvPicPr>
          <p:nvPr/>
        </p:nvPicPr>
        <p:blipFill>
          <a:blip r:embed="rId3"/>
          <a:stretch>
            <a:fillRect/>
          </a:stretch>
        </p:blipFill>
        <p:spPr>
          <a:xfrm>
            <a:off x="1043786" y="2545699"/>
            <a:ext cx="2544218" cy="4037383"/>
          </a:xfrm>
          <a:prstGeom prst="rect">
            <a:avLst/>
          </a:prstGeom>
        </p:spPr>
      </p:pic>
      <p:sp>
        <p:nvSpPr>
          <p:cNvPr id="24" name="Rectangle 23">
            <a:extLst>
              <a:ext uri="{FF2B5EF4-FFF2-40B4-BE49-F238E27FC236}">
                <a16:creationId xmlns:a16="http://schemas.microsoft.com/office/drawing/2014/main" id="{CA9012E5-2EE5-3177-8091-A6E6B2540BA3}"/>
              </a:ext>
            </a:extLst>
          </p:cNvPr>
          <p:cNvSpPr/>
          <p:nvPr/>
        </p:nvSpPr>
        <p:spPr>
          <a:xfrm>
            <a:off x="1759581" y="5031706"/>
            <a:ext cx="1292796" cy="320111"/>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4A9ED319-3FD6-3975-684E-538B32D5BFF7}"/>
              </a:ext>
            </a:extLst>
          </p:cNvPr>
          <p:cNvPicPr>
            <a:picLocks noChangeAspect="1"/>
          </p:cNvPicPr>
          <p:nvPr/>
        </p:nvPicPr>
        <p:blipFill>
          <a:blip r:embed="rId4"/>
          <a:stretch>
            <a:fillRect/>
          </a:stretch>
        </p:blipFill>
        <p:spPr>
          <a:xfrm>
            <a:off x="4277746" y="2545699"/>
            <a:ext cx="2568481" cy="4037383"/>
          </a:xfrm>
          <a:prstGeom prst="rect">
            <a:avLst/>
          </a:prstGeom>
        </p:spPr>
      </p:pic>
      <p:sp>
        <p:nvSpPr>
          <p:cNvPr id="23" name="Rectangle 22">
            <a:extLst>
              <a:ext uri="{FF2B5EF4-FFF2-40B4-BE49-F238E27FC236}">
                <a16:creationId xmlns:a16="http://schemas.microsoft.com/office/drawing/2014/main" id="{02653296-DC59-00DE-FE49-A6C8C3AB6ADA}"/>
              </a:ext>
            </a:extLst>
          </p:cNvPr>
          <p:cNvSpPr/>
          <p:nvPr/>
        </p:nvSpPr>
        <p:spPr>
          <a:xfrm>
            <a:off x="5020136" y="5055533"/>
            <a:ext cx="1222205" cy="290927"/>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8F0C3C9D-3589-5DE6-588E-8121DAFDB0F9}"/>
              </a:ext>
            </a:extLst>
          </p:cNvPr>
          <p:cNvPicPr>
            <a:picLocks noChangeAspect="1"/>
          </p:cNvPicPr>
          <p:nvPr/>
        </p:nvPicPr>
        <p:blipFill>
          <a:blip r:embed="rId5"/>
          <a:stretch>
            <a:fillRect/>
          </a:stretch>
        </p:blipFill>
        <p:spPr>
          <a:xfrm>
            <a:off x="7535969" y="2545699"/>
            <a:ext cx="2551694" cy="4037383"/>
          </a:xfrm>
          <a:prstGeom prst="rect">
            <a:avLst/>
          </a:prstGeom>
        </p:spPr>
      </p:pic>
      <p:sp>
        <p:nvSpPr>
          <p:cNvPr id="22" name="Rectangle 21">
            <a:extLst>
              <a:ext uri="{FF2B5EF4-FFF2-40B4-BE49-F238E27FC236}">
                <a16:creationId xmlns:a16="http://schemas.microsoft.com/office/drawing/2014/main" id="{2074C725-825D-496A-FE79-C45ECE2E9FE5}"/>
              </a:ext>
            </a:extLst>
          </p:cNvPr>
          <p:cNvSpPr/>
          <p:nvPr/>
        </p:nvSpPr>
        <p:spPr>
          <a:xfrm>
            <a:off x="8287546" y="5060890"/>
            <a:ext cx="1214057" cy="290927"/>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06590646"/>
      </p:ext>
    </p:extLst>
  </p:cSld>
  <p:clrMapOvr>
    <a:masterClrMapping/>
  </p:clrMapOvr>
  <mc:AlternateContent xmlns:mc="http://schemas.openxmlformats.org/markup-compatibility/2006" xmlns:p14="http://schemas.microsoft.com/office/powerpoint/2010/main">
    <mc:Choice Requires="p14">
      <p:transition spd="slow" p14:dur="2000" advTm="35544"/>
    </mc:Choice>
    <mc:Fallback xmlns="">
      <p:transition spd="slow" advTm="3554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9" grpId="0"/>
      <p:bldP spid="21" grpId="0"/>
      <p:bldP spid="24" grpId="0" animBg="1"/>
      <p:bldP spid="23" grpId="0" animBg="1"/>
      <p:bldP spid="2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B0E95-A142-5DE9-8486-29A9D1CA1CD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AD4824B-B074-F012-0A9A-2056B27B1C2E}"/>
              </a:ext>
            </a:extLst>
          </p:cNvPr>
          <p:cNvSpPr txBox="1"/>
          <p:nvPr/>
        </p:nvSpPr>
        <p:spPr>
          <a:xfrm>
            <a:off x="685800" y="457200"/>
            <a:ext cx="10820095" cy="769441"/>
          </a:xfrm>
          <a:prstGeom prst="rect">
            <a:avLst/>
          </a:prstGeom>
          <a:noFill/>
        </p:spPr>
        <p:txBody>
          <a:bodyPr wrap="square">
            <a:spAutoFit/>
          </a:bodyPr>
          <a:lstStyle/>
          <a:p>
            <a:pPr>
              <a:defRPr sz="2800" b="1">
                <a:solidFill>
                  <a:srgbClr val="0B1D3A"/>
                </a:solidFill>
              </a:defRPr>
            </a:pPr>
            <a:r>
              <a:rPr lang="en-US" dirty="0"/>
              <a:t>Where’s the Money At?</a:t>
            </a:r>
            <a:endParaRPr dirty="0"/>
          </a:p>
          <a:p>
            <a:pPr>
              <a:defRPr sz="1400">
                <a:solidFill>
                  <a:srgbClr val="646E78"/>
                </a:solidFill>
              </a:defRPr>
            </a:pPr>
            <a:r>
              <a:rPr lang="en-US" sz="1600" dirty="0">
                <a:solidFill>
                  <a:schemeClr val="tx1">
                    <a:lumMod val="85000"/>
                    <a:lumOff val="15000"/>
                  </a:schemeClr>
                </a:solidFill>
              </a:rPr>
              <a:t>Comparison of Model Savings</a:t>
            </a:r>
            <a:endParaRPr sz="1600" dirty="0">
              <a:solidFill>
                <a:schemeClr val="tx1">
                  <a:lumMod val="85000"/>
                  <a:lumOff val="15000"/>
                </a:schemeClr>
              </a:solidFill>
            </a:endParaRPr>
          </a:p>
        </p:txBody>
      </p:sp>
      <p:sp>
        <p:nvSpPr>
          <p:cNvPr id="3" name="Rectangle 2">
            <a:extLst>
              <a:ext uri="{FF2B5EF4-FFF2-40B4-BE49-F238E27FC236}">
                <a16:creationId xmlns:a16="http://schemas.microsoft.com/office/drawing/2014/main" id="{850E4A0F-9D41-B7FB-17EE-2452409E859B}"/>
              </a:ext>
            </a:extLst>
          </p:cNvPr>
          <p:cNvSpPr/>
          <p:nvPr/>
        </p:nvSpPr>
        <p:spPr>
          <a:xfrm>
            <a:off x="632405" y="2073234"/>
            <a:ext cx="3312197" cy="3201068"/>
          </a:xfrm>
          <a:prstGeom prst="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26A521C1-ACA5-347E-65DB-A8935439367E}"/>
              </a:ext>
            </a:extLst>
          </p:cNvPr>
          <p:cNvSpPr txBox="1"/>
          <p:nvPr/>
        </p:nvSpPr>
        <p:spPr>
          <a:xfrm>
            <a:off x="734023" y="2134789"/>
            <a:ext cx="3108960" cy="3077766"/>
          </a:xfrm>
          <a:prstGeom prst="rect">
            <a:avLst/>
          </a:prstGeom>
          <a:noFill/>
        </p:spPr>
        <p:txBody>
          <a:bodyPr wrap="square">
            <a:spAutoFit/>
          </a:bodyPr>
          <a:lstStyle/>
          <a:p>
            <a:pPr algn="ctr"/>
            <a:r>
              <a:rPr lang="en-US" b="1" dirty="0"/>
              <a:t>Model Savings</a:t>
            </a:r>
          </a:p>
          <a:p>
            <a:r>
              <a:rPr lang="en-US" sz="1600" dirty="0"/>
              <a:t>• RF2 (0.40 threshold) seems to have the best overall performance as noted in the earlier slide.</a:t>
            </a:r>
          </a:p>
          <a:p>
            <a:r>
              <a:rPr lang="en-US" sz="1600" dirty="0"/>
              <a:t>• RF2 also has the best mix of accuracy and savings (64.94% and $5,645,371, respectively).</a:t>
            </a:r>
          </a:p>
          <a:p>
            <a:r>
              <a:rPr lang="en-US" sz="1600" dirty="0"/>
              <a:t>• While RF3 seems to have identified 100% of employees likely to leave, it suffers from a very low accuracy, which is corrected in the Targeted Flights Saved.</a:t>
            </a:r>
          </a:p>
        </p:txBody>
      </p:sp>
      <p:graphicFrame>
        <p:nvGraphicFramePr>
          <p:cNvPr id="5" name="Table 4">
            <a:extLst>
              <a:ext uri="{FF2B5EF4-FFF2-40B4-BE49-F238E27FC236}">
                <a16:creationId xmlns:a16="http://schemas.microsoft.com/office/drawing/2014/main" id="{5C48BBF6-B0C1-167B-A07A-5BD3593EE038}"/>
              </a:ext>
            </a:extLst>
          </p:cNvPr>
          <p:cNvGraphicFramePr>
            <a:graphicFrameLocks noGrp="1"/>
          </p:cNvGraphicFramePr>
          <p:nvPr>
            <p:extLst>
              <p:ext uri="{D42A27DB-BD31-4B8C-83A1-F6EECF244321}">
                <p14:modId xmlns:p14="http://schemas.microsoft.com/office/powerpoint/2010/main" val="666837943"/>
              </p:ext>
            </p:extLst>
          </p:nvPr>
        </p:nvGraphicFramePr>
        <p:xfrm>
          <a:off x="4278325" y="1817657"/>
          <a:ext cx="7335223" cy="3835139"/>
        </p:xfrm>
        <a:graphic>
          <a:graphicData uri="http://schemas.openxmlformats.org/drawingml/2006/table">
            <a:tbl>
              <a:tblPr/>
              <a:tblGrid>
                <a:gridCol w="2583012">
                  <a:extLst>
                    <a:ext uri="{9D8B030D-6E8A-4147-A177-3AD203B41FA5}">
                      <a16:colId xmlns:a16="http://schemas.microsoft.com/office/drawing/2014/main" val="1542409687"/>
                    </a:ext>
                  </a:extLst>
                </a:gridCol>
                <a:gridCol w="1519881">
                  <a:extLst>
                    <a:ext uri="{9D8B030D-6E8A-4147-A177-3AD203B41FA5}">
                      <a16:colId xmlns:a16="http://schemas.microsoft.com/office/drawing/2014/main" val="1732153351"/>
                    </a:ext>
                  </a:extLst>
                </a:gridCol>
                <a:gridCol w="1616165">
                  <a:extLst>
                    <a:ext uri="{9D8B030D-6E8A-4147-A177-3AD203B41FA5}">
                      <a16:colId xmlns:a16="http://schemas.microsoft.com/office/drawing/2014/main" val="1219514130"/>
                    </a:ext>
                  </a:extLst>
                </a:gridCol>
                <a:gridCol w="1616165">
                  <a:extLst>
                    <a:ext uri="{9D8B030D-6E8A-4147-A177-3AD203B41FA5}">
                      <a16:colId xmlns:a16="http://schemas.microsoft.com/office/drawing/2014/main" val="4129439722"/>
                    </a:ext>
                  </a:extLst>
                </a:gridCol>
              </a:tblGrid>
              <a:tr h="348649">
                <a:tc>
                  <a:txBody>
                    <a:bodyPr/>
                    <a:lstStyle/>
                    <a:p>
                      <a:pPr algn="ctr" fontAlgn="b">
                        <a:buNone/>
                      </a:pPr>
                      <a:r>
                        <a:rPr lang="en-US" sz="1800" b="1" i="0" u="none" strike="noStrike" dirty="0">
                          <a:solidFill>
                            <a:srgbClr val="FFFFFF"/>
                          </a:solidFill>
                          <a:effectLst/>
                          <a:latin typeface="Calibri" panose="020F0502020204030204" pitchFamily="34" charset="0"/>
                        </a:rPr>
                        <a:t>Categories</a:t>
                      </a:r>
                    </a:p>
                  </a:txBody>
                  <a:tcPr marL="9525" marR="9525" marT="9525"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buNone/>
                      </a:pPr>
                      <a:r>
                        <a:rPr lang="en-US" sz="1800" b="1" i="0" u="none" strike="noStrike" dirty="0">
                          <a:solidFill>
                            <a:srgbClr val="FFFFFF"/>
                          </a:solidFill>
                          <a:effectLst/>
                          <a:latin typeface="Calibri" panose="020F0502020204030204" pitchFamily="34" charset="0"/>
                        </a:rPr>
                        <a:t>RF1 (0.42)</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buNone/>
                      </a:pPr>
                      <a:r>
                        <a:rPr lang="en-US" sz="1800" b="1" i="0" u="none" strike="noStrike" dirty="0">
                          <a:solidFill>
                            <a:srgbClr val="FFFFFF"/>
                          </a:solidFill>
                          <a:effectLst/>
                          <a:latin typeface="Calibri" panose="020F0502020204030204" pitchFamily="34" charset="0"/>
                        </a:rPr>
                        <a:t>RF2 (0.40)</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buNone/>
                      </a:pPr>
                      <a:r>
                        <a:rPr lang="en-US" sz="1800" b="1" i="0" u="none" strike="noStrike" dirty="0">
                          <a:solidFill>
                            <a:srgbClr val="FFFFFF"/>
                          </a:solidFill>
                          <a:effectLst/>
                          <a:latin typeface="Calibri" panose="020F0502020204030204" pitchFamily="34" charset="0"/>
                        </a:rPr>
                        <a:t>RF3 (0.10)</a:t>
                      </a:r>
                    </a:p>
                  </a:txBody>
                  <a:tcPr marL="9525" marR="9525" marT="9525"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1030726258"/>
                  </a:ext>
                </a:extLst>
              </a:tr>
              <a:tr h="348649">
                <a:tc>
                  <a:txBody>
                    <a:bodyPr/>
                    <a:lstStyle/>
                    <a:p>
                      <a:pPr algn="ctr" fontAlgn="b">
                        <a:buNone/>
                      </a:pPr>
                      <a:r>
                        <a:rPr lang="en-US" sz="1600" b="0" i="0" u="none" strike="noStrike" dirty="0">
                          <a:solidFill>
                            <a:srgbClr val="000000"/>
                          </a:solidFill>
                          <a:effectLst/>
                          <a:latin typeface="Calibri" panose="020F0502020204030204" pitchFamily="34" charset="0"/>
                        </a:rPr>
                        <a:t>Accuracy</a:t>
                      </a:r>
                    </a:p>
                  </a:txBody>
                  <a:tcPr marL="9525" marR="9525" marT="9525"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n-US" sz="1600" b="0" i="0" u="none" strike="noStrike" dirty="0">
                          <a:solidFill>
                            <a:srgbClr val="000000"/>
                          </a:solidFill>
                          <a:effectLst/>
                          <a:latin typeface="Calibri" panose="020F0502020204030204" pitchFamily="34" charset="0"/>
                        </a:rPr>
                        <a:t>63.22%</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n-US" sz="1600" b="0" i="0" u="none" strike="noStrike" dirty="0">
                          <a:solidFill>
                            <a:srgbClr val="000000"/>
                          </a:solidFill>
                          <a:effectLst/>
                          <a:latin typeface="Calibri" panose="020F0502020204030204" pitchFamily="34" charset="0"/>
                        </a:rPr>
                        <a:t>64.94%</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n-US" sz="1600" b="0" i="0" u="none" strike="noStrike" dirty="0">
                          <a:solidFill>
                            <a:srgbClr val="000000"/>
                          </a:solidFill>
                          <a:effectLst/>
                          <a:latin typeface="Calibri" panose="020F0502020204030204" pitchFamily="34" charset="0"/>
                        </a:rPr>
                        <a:t>21.26%</a:t>
                      </a:r>
                    </a:p>
                  </a:txBody>
                  <a:tcPr marL="9525" marR="9525" marT="9525"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748133711"/>
                  </a:ext>
                </a:extLst>
              </a:tr>
              <a:tr h="348649">
                <a:tc>
                  <a:txBody>
                    <a:bodyPr/>
                    <a:lstStyle/>
                    <a:p>
                      <a:pPr algn="ctr" fontAlgn="b">
                        <a:buNone/>
                      </a:pPr>
                      <a:r>
                        <a:rPr lang="en-US" sz="1600" b="0" i="0" u="none" strike="noStrike" dirty="0">
                          <a:solidFill>
                            <a:srgbClr val="000000"/>
                          </a:solidFill>
                          <a:effectLst/>
                          <a:latin typeface="Calibri" panose="020F0502020204030204" pitchFamily="34" charset="0"/>
                        </a:rPr>
                        <a:t>Sensitivity</a:t>
                      </a:r>
                    </a:p>
                  </a:txBody>
                  <a:tcPr marL="9525" marR="9525" marT="9525"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n-US" sz="1600" b="0" i="0" u="none" strike="noStrike" dirty="0">
                          <a:solidFill>
                            <a:srgbClr val="000000"/>
                          </a:solidFill>
                          <a:effectLst/>
                          <a:latin typeface="Calibri" panose="020F0502020204030204" pitchFamily="34" charset="0"/>
                        </a:rPr>
                        <a:t>75.00%</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n-US" sz="1600" b="0" i="0" u="none" strike="noStrike" dirty="0">
                          <a:solidFill>
                            <a:srgbClr val="000000"/>
                          </a:solidFill>
                          <a:effectLst/>
                          <a:latin typeface="Calibri" panose="020F0502020204030204" pitchFamily="34" charset="0"/>
                        </a:rPr>
                        <a:t>85.71%</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n-US" sz="1600" b="0" i="0" u="none" strike="noStrike">
                          <a:solidFill>
                            <a:srgbClr val="000000"/>
                          </a:solidFill>
                          <a:effectLst/>
                          <a:latin typeface="Calibri" panose="020F0502020204030204" pitchFamily="34" charset="0"/>
                        </a:rPr>
                        <a:t>100%</a:t>
                      </a:r>
                    </a:p>
                  </a:txBody>
                  <a:tcPr marL="9525" marR="9525" marT="9525"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100654642"/>
                  </a:ext>
                </a:extLst>
              </a:tr>
              <a:tr h="348649">
                <a:tc>
                  <a:txBody>
                    <a:bodyPr/>
                    <a:lstStyle/>
                    <a:p>
                      <a:pPr algn="ctr" fontAlgn="b">
                        <a:buNone/>
                      </a:pPr>
                      <a:r>
                        <a:rPr lang="en-US" sz="1600" b="0" i="0" u="none" strike="noStrike" dirty="0">
                          <a:solidFill>
                            <a:srgbClr val="000000"/>
                          </a:solidFill>
                          <a:effectLst/>
                          <a:latin typeface="Calibri" panose="020F0502020204030204" pitchFamily="34" charset="0"/>
                        </a:rPr>
                        <a:t>Specificity</a:t>
                      </a:r>
                    </a:p>
                  </a:txBody>
                  <a:tcPr marL="9525" marR="9525" marT="9525"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n-US" sz="1600" b="0" i="0" u="none" strike="noStrike" dirty="0">
                          <a:solidFill>
                            <a:srgbClr val="000000"/>
                          </a:solidFill>
                          <a:effectLst/>
                          <a:latin typeface="Calibri" panose="020F0502020204030204" pitchFamily="34" charset="0"/>
                        </a:rPr>
                        <a:t>60.96%</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n-US" sz="1600" b="0" i="0" u="none" strike="noStrike" dirty="0">
                          <a:solidFill>
                            <a:srgbClr val="000000"/>
                          </a:solidFill>
                          <a:effectLst/>
                          <a:latin typeface="Calibri" panose="020F0502020204030204" pitchFamily="34" charset="0"/>
                        </a:rPr>
                        <a:t>60.96%</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n-US" sz="1600" b="0" i="0" u="none" strike="noStrike">
                          <a:solidFill>
                            <a:srgbClr val="000000"/>
                          </a:solidFill>
                          <a:effectLst/>
                          <a:latin typeface="Calibri" panose="020F0502020204030204" pitchFamily="34" charset="0"/>
                        </a:rPr>
                        <a:t>6.16%</a:t>
                      </a:r>
                    </a:p>
                  </a:txBody>
                  <a:tcPr marL="9525" marR="9525" marT="9525"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780713562"/>
                  </a:ext>
                </a:extLst>
              </a:tr>
              <a:tr h="348649">
                <a:tc>
                  <a:txBody>
                    <a:bodyPr/>
                    <a:lstStyle/>
                    <a:p>
                      <a:pPr algn="ctr" fontAlgn="b">
                        <a:buNone/>
                      </a:pPr>
                      <a:r>
                        <a:rPr lang="en-US" sz="1600" b="0" i="0" u="none" strike="noStrike" dirty="0">
                          <a:solidFill>
                            <a:srgbClr val="000000"/>
                          </a:solidFill>
                          <a:effectLst/>
                          <a:latin typeface="Calibri" panose="020F0502020204030204" pitchFamily="34" charset="0"/>
                        </a:rPr>
                        <a:t>Employees</a:t>
                      </a:r>
                    </a:p>
                  </a:txBody>
                  <a:tcPr marL="9525" marR="9525" marT="9525"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n-US" sz="1600" b="0" i="0" u="none" strike="noStrike" dirty="0">
                          <a:solidFill>
                            <a:srgbClr val="000000"/>
                          </a:solidFill>
                          <a:effectLst/>
                          <a:latin typeface="Calibri" panose="020F0502020204030204" pitchFamily="34" charset="0"/>
                        </a:rPr>
                        <a:t>300</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n-US" sz="1600" b="0" i="0" u="none" strike="noStrike" dirty="0">
                          <a:solidFill>
                            <a:srgbClr val="000000"/>
                          </a:solidFill>
                          <a:effectLst/>
                          <a:latin typeface="Calibri" panose="020F0502020204030204" pitchFamily="34" charset="0"/>
                        </a:rPr>
                        <a:t>300</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n-US" sz="1600" b="0" i="0" u="none" strike="noStrike">
                          <a:solidFill>
                            <a:srgbClr val="000000"/>
                          </a:solidFill>
                          <a:effectLst/>
                          <a:latin typeface="Calibri" panose="020F0502020204030204" pitchFamily="34" charset="0"/>
                        </a:rPr>
                        <a:t>300</a:t>
                      </a:r>
                    </a:p>
                  </a:txBody>
                  <a:tcPr marL="9525" marR="9525" marT="9525"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08685434"/>
                  </a:ext>
                </a:extLst>
              </a:tr>
              <a:tr h="348649">
                <a:tc>
                  <a:txBody>
                    <a:bodyPr/>
                    <a:lstStyle/>
                    <a:p>
                      <a:pPr algn="ctr" fontAlgn="b">
                        <a:buNone/>
                      </a:pPr>
                      <a:r>
                        <a:rPr lang="en-US" sz="1600" b="0" i="0" u="none" strike="noStrike" dirty="0">
                          <a:solidFill>
                            <a:srgbClr val="000000"/>
                          </a:solidFill>
                          <a:effectLst/>
                          <a:latin typeface="Calibri" panose="020F0502020204030204" pitchFamily="34" charset="0"/>
                        </a:rPr>
                        <a:t>Flight Risk Employees</a:t>
                      </a:r>
                    </a:p>
                  </a:txBody>
                  <a:tcPr marL="9525" marR="9525" marT="9525"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n-US" sz="1600" b="0" i="0" u="none" strike="noStrike" dirty="0">
                          <a:solidFill>
                            <a:srgbClr val="000000"/>
                          </a:solidFill>
                          <a:effectLst/>
                          <a:latin typeface="Calibri" panose="020F0502020204030204" pitchFamily="34" charset="0"/>
                        </a:rPr>
                        <a:t>142</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n-US" sz="1600" b="0" i="0" u="none" strike="noStrike" dirty="0">
                          <a:solidFill>
                            <a:srgbClr val="000000"/>
                          </a:solidFill>
                          <a:effectLst/>
                          <a:latin typeface="Calibri" panose="020F0502020204030204" pitchFamily="34" charset="0"/>
                        </a:rPr>
                        <a:t>156</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n-US" sz="1600" b="0" i="0" u="none" strike="noStrike">
                          <a:solidFill>
                            <a:srgbClr val="000000"/>
                          </a:solidFill>
                          <a:effectLst/>
                          <a:latin typeface="Calibri" panose="020F0502020204030204" pitchFamily="34" charset="0"/>
                        </a:rPr>
                        <a:t>286</a:t>
                      </a:r>
                    </a:p>
                  </a:txBody>
                  <a:tcPr marL="9525" marR="9525" marT="9525"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4293819039"/>
                  </a:ext>
                </a:extLst>
              </a:tr>
              <a:tr h="348649">
                <a:tc>
                  <a:txBody>
                    <a:bodyPr/>
                    <a:lstStyle/>
                    <a:p>
                      <a:pPr algn="ctr" fontAlgn="b">
                        <a:buNone/>
                      </a:pPr>
                      <a:r>
                        <a:rPr lang="en-US" sz="1600" b="0" i="0" u="none" strike="noStrike" dirty="0">
                          <a:solidFill>
                            <a:srgbClr val="000000"/>
                          </a:solidFill>
                          <a:effectLst/>
                          <a:latin typeface="Calibri" panose="020F0502020204030204" pitchFamily="34" charset="0"/>
                        </a:rPr>
                        <a:t>Targeted Flights Saved</a:t>
                      </a:r>
                    </a:p>
                  </a:txBody>
                  <a:tcPr marL="9525" marR="9525" marT="9525"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n-US" sz="1600" b="0" i="0" u="none" strike="noStrike" dirty="0">
                          <a:solidFill>
                            <a:srgbClr val="000000"/>
                          </a:solidFill>
                          <a:effectLst/>
                          <a:latin typeface="Calibri" panose="020F0502020204030204" pitchFamily="34" charset="0"/>
                        </a:rPr>
                        <a:t>56.8</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n-US" sz="1600" b="0" i="0" u="none" strike="noStrike" dirty="0">
                          <a:solidFill>
                            <a:srgbClr val="000000"/>
                          </a:solidFill>
                          <a:effectLst/>
                          <a:latin typeface="Calibri" panose="020F0502020204030204" pitchFamily="34" charset="0"/>
                        </a:rPr>
                        <a:t>62.4</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n-US" sz="1600" b="0" i="0" u="none" strike="noStrike">
                          <a:solidFill>
                            <a:srgbClr val="000000"/>
                          </a:solidFill>
                          <a:effectLst/>
                          <a:latin typeface="Calibri" panose="020F0502020204030204" pitchFamily="34" charset="0"/>
                        </a:rPr>
                        <a:t>19.4</a:t>
                      </a:r>
                    </a:p>
                  </a:txBody>
                  <a:tcPr marL="9525" marR="9525" marT="9525"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393737406"/>
                  </a:ext>
                </a:extLst>
              </a:tr>
              <a:tr h="348649">
                <a:tc>
                  <a:txBody>
                    <a:bodyPr/>
                    <a:lstStyle/>
                    <a:p>
                      <a:pPr algn="ctr" fontAlgn="b">
                        <a:buNone/>
                      </a:pPr>
                      <a:r>
                        <a:rPr lang="en-US" sz="1600" b="0" i="0" u="none" strike="noStrike" dirty="0">
                          <a:solidFill>
                            <a:srgbClr val="000000"/>
                          </a:solidFill>
                          <a:effectLst/>
                          <a:latin typeface="Calibri" panose="020F0502020204030204" pitchFamily="34" charset="0"/>
                        </a:rPr>
                        <a:t>Total Risk Exposure</a:t>
                      </a:r>
                    </a:p>
                  </a:txBody>
                  <a:tcPr marL="9525" marR="9525" marT="9525"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n-US" sz="1600" b="0" i="0" u="none" strike="noStrike" dirty="0">
                          <a:solidFill>
                            <a:srgbClr val="000000"/>
                          </a:solidFill>
                          <a:effectLst/>
                          <a:latin typeface="Calibri" panose="020F0502020204030204" pitchFamily="34" charset="0"/>
                        </a:rPr>
                        <a:t>$10,439,148</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n-US" sz="1600" b="0" i="0" u="none" strike="noStrike" dirty="0">
                          <a:solidFill>
                            <a:srgbClr val="000000"/>
                          </a:solidFill>
                          <a:effectLst/>
                          <a:latin typeface="Calibri" panose="020F0502020204030204" pitchFamily="34" charset="0"/>
                        </a:rPr>
                        <a:t>$14,191,428</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n-US" sz="1600" b="0" i="0" u="none" strike="noStrike" dirty="0">
                          <a:solidFill>
                            <a:srgbClr val="000000"/>
                          </a:solidFill>
                          <a:effectLst/>
                          <a:latin typeface="Calibri" panose="020F0502020204030204" pitchFamily="34" charset="0"/>
                        </a:rPr>
                        <a:t>$45,190,686</a:t>
                      </a:r>
                    </a:p>
                  </a:txBody>
                  <a:tcPr marL="9525" marR="9525" marT="9525"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364422207"/>
                  </a:ext>
                </a:extLst>
              </a:tr>
              <a:tr h="348649">
                <a:tc>
                  <a:txBody>
                    <a:bodyPr/>
                    <a:lstStyle/>
                    <a:p>
                      <a:pPr algn="ctr" fontAlgn="b">
                        <a:buNone/>
                      </a:pPr>
                      <a:r>
                        <a:rPr lang="en-US" sz="1600" b="0" i="0" u="none" strike="noStrike" dirty="0">
                          <a:solidFill>
                            <a:srgbClr val="000000"/>
                          </a:solidFill>
                          <a:effectLst/>
                          <a:latin typeface="Calibri" panose="020F0502020204030204" pitchFamily="34" charset="0"/>
                        </a:rPr>
                        <a:t>Programmatic Outreach Spend</a:t>
                      </a:r>
                    </a:p>
                  </a:txBody>
                  <a:tcPr marL="9525" marR="9525" marT="9525"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n-US" sz="1600" b="0" i="0" u="none" strike="noStrike" dirty="0">
                          <a:solidFill>
                            <a:srgbClr val="000000"/>
                          </a:solidFill>
                          <a:effectLst/>
                          <a:latin typeface="Calibri" panose="020F0502020204030204" pitchFamily="34" charset="0"/>
                        </a:rPr>
                        <a:t>$28,400</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n-US" sz="1600" b="0" i="0" u="none" strike="noStrike" dirty="0">
                          <a:solidFill>
                            <a:srgbClr val="000000"/>
                          </a:solidFill>
                          <a:effectLst/>
                          <a:latin typeface="Calibri" panose="020F0502020204030204" pitchFamily="34" charset="0"/>
                        </a:rPr>
                        <a:t>$31,200</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n-US" sz="1600" b="0" i="0" u="none" strike="noStrike" dirty="0">
                          <a:solidFill>
                            <a:srgbClr val="000000"/>
                          </a:solidFill>
                          <a:effectLst/>
                          <a:latin typeface="Calibri" panose="020F0502020204030204" pitchFamily="34" charset="0"/>
                        </a:rPr>
                        <a:t>$57,200</a:t>
                      </a:r>
                    </a:p>
                  </a:txBody>
                  <a:tcPr marL="9525" marR="9525" marT="9525"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68633471"/>
                  </a:ext>
                </a:extLst>
              </a:tr>
              <a:tr h="348649">
                <a:tc>
                  <a:txBody>
                    <a:bodyPr/>
                    <a:lstStyle/>
                    <a:p>
                      <a:pPr algn="ctr" fontAlgn="b">
                        <a:buNone/>
                      </a:pPr>
                      <a:r>
                        <a:rPr lang="en-US" sz="1600" b="0" i="0" u="none" strike="noStrike" dirty="0">
                          <a:solidFill>
                            <a:srgbClr val="000000"/>
                          </a:solidFill>
                          <a:effectLst/>
                          <a:latin typeface="Calibri" panose="020F0502020204030204" pitchFamily="34" charset="0"/>
                        </a:rPr>
                        <a:t>Gross Attrition Saved</a:t>
                      </a:r>
                    </a:p>
                  </a:txBody>
                  <a:tcPr marL="9525" marR="9525" marT="9525"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n-US" sz="1600" b="0" i="0" u="none" strike="noStrike" dirty="0">
                          <a:solidFill>
                            <a:srgbClr val="000000"/>
                          </a:solidFill>
                          <a:effectLst/>
                          <a:latin typeface="Calibri" panose="020F0502020204030204" pitchFamily="34" charset="0"/>
                        </a:rPr>
                        <a:t>$4,175,659</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n-US" sz="1600" b="0" i="0" u="none" strike="noStrike" dirty="0">
                          <a:solidFill>
                            <a:srgbClr val="000000"/>
                          </a:solidFill>
                          <a:effectLst/>
                          <a:latin typeface="Calibri" panose="020F0502020204030204" pitchFamily="34" charset="0"/>
                        </a:rPr>
                        <a:t>$5,676,571</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n-US" sz="1600" b="0" i="0" u="none" strike="noStrike" dirty="0">
                          <a:solidFill>
                            <a:srgbClr val="000000"/>
                          </a:solidFill>
                          <a:effectLst/>
                          <a:latin typeface="Calibri" panose="020F0502020204030204" pitchFamily="34" charset="0"/>
                        </a:rPr>
                        <a:t>$3,067,489</a:t>
                      </a:r>
                    </a:p>
                  </a:txBody>
                  <a:tcPr marL="9525" marR="9525" marT="9525"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963558848"/>
                  </a:ext>
                </a:extLst>
              </a:tr>
              <a:tr h="348649">
                <a:tc>
                  <a:txBody>
                    <a:bodyPr/>
                    <a:lstStyle/>
                    <a:p>
                      <a:pPr algn="ctr" fontAlgn="b">
                        <a:buNone/>
                      </a:pPr>
                      <a:r>
                        <a:rPr lang="en-US" sz="1600" b="0" i="0" u="none" strike="noStrike" dirty="0">
                          <a:solidFill>
                            <a:srgbClr val="000000"/>
                          </a:solidFill>
                          <a:effectLst/>
                          <a:latin typeface="Calibri" panose="020F0502020204030204" pitchFamily="34" charset="0"/>
                        </a:rPr>
                        <a:t>Net Model-Driven Savings</a:t>
                      </a:r>
                    </a:p>
                  </a:txBody>
                  <a:tcPr marL="9525" marR="9525" marT="9525"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n-US" sz="1600" b="0" i="0" u="none" strike="noStrike" dirty="0">
                          <a:solidFill>
                            <a:srgbClr val="000000"/>
                          </a:solidFill>
                          <a:effectLst/>
                          <a:latin typeface="Calibri" panose="020F0502020204030204" pitchFamily="34" charset="0"/>
                        </a:rPr>
                        <a:t>$4,147,259</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n-US" sz="1600" b="0" i="0" u="none" strike="noStrike" dirty="0">
                          <a:solidFill>
                            <a:srgbClr val="000000"/>
                          </a:solidFill>
                          <a:effectLst/>
                          <a:latin typeface="Calibri" panose="020F0502020204030204" pitchFamily="34" charset="0"/>
                        </a:rPr>
                        <a:t>$5,645,371</a:t>
                      </a:r>
                    </a:p>
                  </a:txBody>
                  <a:tcPr marL="9525" marR="9525" marT="9525"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n-US" sz="1600" b="0" i="0" u="none" strike="noStrike" dirty="0">
                          <a:solidFill>
                            <a:srgbClr val="000000"/>
                          </a:solidFill>
                          <a:effectLst/>
                          <a:latin typeface="Calibri" panose="020F0502020204030204" pitchFamily="34" charset="0"/>
                        </a:rPr>
                        <a:t>$3,010,289</a:t>
                      </a:r>
                    </a:p>
                  </a:txBody>
                  <a:tcPr marL="9525" marR="9525" marT="9525"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300920541"/>
                  </a:ext>
                </a:extLst>
              </a:tr>
            </a:tbl>
          </a:graphicData>
        </a:graphic>
      </p:graphicFrame>
    </p:spTree>
    <p:custDataLst>
      <p:tags r:id="rId1"/>
    </p:custDataLst>
    <p:extLst>
      <p:ext uri="{BB962C8B-B14F-4D97-AF65-F5344CB8AC3E}">
        <p14:creationId xmlns:p14="http://schemas.microsoft.com/office/powerpoint/2010/main" val="1527254207"/>
      </p:ext>
    </p:extLst>
  </p:cSld>
  <p:clrMapOvr>
    <a:masterClrMapping/>
  </p:clrMapOvr>
  <mc:AlternateContent xmlns:mc="http://schemas.openxmlformats.org/markup-compatibility/2006" xmlns:p14="http://schemas.microsoft.com/office/powerpoint/2010/main">
    <mc:Choice Requires="p14">
      <p:transition spd="slow" p14:dur="2000" advTm="38590"/>
    </mc:Choice>
    <mc:Fallback xmlns="">
      <p:transition spd="slow" advTm="385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3|21.6|20.3|18.5"/>
</p:tagLst>
</file>

<file path=ppt/tags/tag2.xml><?xml version="1.0" encoding="utf-8"?>
<p:tagLst xmlns:a="http://schemas.openxmlformats.org/drawingml/2006/main" xmlns:r="http://schemas.openxmlformats.org/officeDocument/2006/relationships" xmlns:p="http://schemas.openxmlformats.org/presentationml/2006/main">
  <p:tag name="TIMING" val="|2.1|11.7|13.6"/>
</p:tagLst>
</file>

<file path=ppt/tags/tag3.xml><?xml version="1.0" encoding="utf-8"?>
<p:tagLst xmlns:a="http://schemas.openxmlformats.org/drawingml/2006/main" xmlns:r="http://schemas.openxmlformats.org/officeDocument/2006/relationships" xmlns:p="http://schemas.openxmlformats.org/presentationml/2006/main">
  <p:tag name="TIMING" val="|1.6|39.7"/>
</p:tagLst>
</file>

<file path=ppt/tags/tag4.xml><?xml version="1.0" encoding="utf-8"?>
<p:tagLst xmlns:a="http://schemas.openxmlformats.org/drawingml/2006/main" xmlns:r="http://schemas.openxmlformats.org/officeDocument/2006/relationships" xmlns:p="http://schemas.openxmlformats.org/presentationml/2006/main">
  <p:tag name="TIMING" val="|4.8|12.1|27.5"/>
</p:tagLst>
</file>

<file path=ppt/tags/tag5.xml><?xml version="1.0" encoding="utf-8"?>
<p:tagLst xmlns:a="http://schemas.openxmlformats.org/drawingml/2006/main" xmlns:r="http://schemas.openxmlformats.org/officeDocument/2006/relationships" xmlns:p="http://schemas.openxmlformats.org/presentationml/2006/main">
  <p:tag name="TIMING" val="|2.8|12.8|6.2"/>
</p:tagLst>
</file>

<file path=ppt/tags/tag6.xml><?xml version="1.0" encoding="utf-8"?>
<p:tagLst xmlns:a="http://schemas.openxmlformats.org/drawingml/2006/main" xmlns:r="http://schemas.openxmlformats.org/officeDocument/2006/relationships" xmlns:p="http://schemas.openxmlformats.org/presentationml/2006/main">
  <p:tag name="TIMING" val="|1.3|20.1|14.4|12"/>
</p:tagLst>
</file>

<file path=ppt/tags/tag7.xml><?xml version="1.0" encoding="utf-8"?>
<p:tagLst xmlns:a="http://schemas.openxmlformats.org/drawingml/2006/main" xmlns:r="http://schemas.openxmlformats.org/officeDocument/2006/relationships" xmlns:p="http://schemas.openxmlformats.org/presentationml/2006/main">
  <p:tag name="TIMING" val="|20.7|1.7|1|0.6|0.9|1.1|0.7"/>
</p:tagLst>
</file>

<file path=ppt/tags/tag8.xml><?xml version="1.0" encoding="utf-8"?>
<p:tagLst xmlns:a="http://schemas.openxmlformats.org/drawingml/2006/main" xmlns:r="http://schemas.openxmlformats.org/officeDocument/2006/relationships" xmlns:p="http://schemas.openxmlformats.org/presentationml/2006/main">
  <p:tag name="TIMING" val="|2.9"/>
</p:tagLst>
</file>

<file path=ppt/tags/tag9.xml><?xml version="1.0" encoding="utf-8"?>
<p:tagLst xmlns:a="http://schemas.openxmlformats.org/drawingml/2006/main" xmlns:r="http://schemas.openxmlformats.org/officeDocument/2006/relationships" xmlns:p="http://schemas.openxmlformats.org/presentationml/2006/main">
  <p:tag name="TIMING" val="|12.2"/>
</p:tagLst>
</file>

<file path=ppt/tags/tag10.xml><?xml version="1.0" encoding="utf-8"?>
<p:tagLst xmlns:a="http://schemas.openxmlformats.org/drawingml/2006/main" xmlns:r="http://schemas.openxmlformats.org/officeDocument/2006/relationships" xmlns:p="http://schemas.openxmlformats.org/presentationml/2006/main">
  <p:tag name="TIMING" val="|1.3"/>
</p:tagLst>
</file>

<file path=ppt/tags/tag11.xml><?xml version="1.0" encoding="utf-8"?>
<p:tagLst xmlns:a="http://schemas.openxmlformats.org/drawingml/2006/main" xmlns:r="http://schemas.openxmlformats.org/officeDocument/2006/relationships" xmlns:p="http://schemas.openxmlformats.org/presentationml/2006/main">
  <p:tag name="TIMING" val="|2.1"/>
</p:tagLst>
</file>

<file path=ppt/tags/tag12.xml><?xml version="1.0" encoding="utf-8"?>
<p:tagLst xmlns:a="http://schemas.openxmlformats.org/drawingml/2006/main" xmlns:r="http://schemas.openxmlformats.org/officeDocument/2006/relationships" xmlns:p="http://schemas.openxmlformats.org/presentationml/2006/main">
  <p:tag name="TIMING" val="|8.3"/>
</p:tagLst>
</file>

<file path=ppt/tags/tag13.xml><?xml version="1.0" encoding="utf-8"?>
<p:tagLst xmlns:a="http://schemas.openxmlformats.org/drawingml/2006/main" xmlns:r="http://schemas.openxmlformats.org/officeDocument/2006/relationships" xmlns:p="http://schemas.openxmlformats.org/presentationml/2006/main">
  <p:tag name="TIMING" val="|0.7|0.7|0.6|29.3"/>
</p:tagLst>
</file>

<file path=ppt/tags/tag14.xml><?xml version="1.0" encoding="utf-8"?>
<p:tagLst xmlns:a="http://schemas.openxmlformats.org/drawingml/2006/main" xmlns:r="http://schemas.openxmlformats.org/officeDocument/2006/relationships" xmlns:p="http://schemas.openxmlformats.org/presentationml/2006/main">
  <p:tag name="TIMING" val="|0.9|0.6|0.4"/>
</p:tagLst>
</file>

<file path=ppt/tags/tag15.xml><?xml version="1.0" encoding="utf-8"?>
<p:tagLst xmlns:a="http://schemas.openxmlformats.org/drawingml/2006/main" xmlns:r="http://schemas.openxmlformats.org/officeDocument/2006/relationships" xmlns:p="http://schemas.openxmlformats.org/presentationml/2006/main">
  <p:tag name="TIMING"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968</TotalTime>
  <Words>1877</Words>
  <Application>Microsoft Office PowerPoint</Application>
  <PresentationFormat>Widescreen</PresentationFormat>
  <Paragraphs>243</Paragraphs>
  <Slides>23</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Smoked3</dc:creator>
  <cp:keywords/>
  <dc:description>generated using python-pptx</dc:description>
  <cp:lastModifiedBy>David Sohn</cp:lastModifiedBy>
  <cp:revision>12</cp:revision>
  <dcterms:created xsi:type="dcterms:W3CDTF">2013-01-27T09:14:16Z</dcterms:created>
  <dcterms:modified xsi:type="dcterms:W3CDTF">2026-10-26T03:44:23Z</dcterms:modified>
  <cp:category/>
</cp:coreProperties>
</file>